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5" r:id="rId6"/>
    <p:sldId id="271" r:id="rId7"/>
    <p:sldId id="270" r:id="rId8"/>
    <p:sldId id="272" r:id="rId9"/>
    <p:sldId id="273" r:id="rId10"/>
    <p:sldId id="274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90" autoAdjust="0"/>
  </p:normalViewPr>
  <p:slideViewPr>
    <p:cSldViewPr snapToGrid="0">
      <p:cViewPr varScale="1">
        <p:scale>
          <a:sx n="106" d="100"/>
          <a:sy n="106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F9C43-E3DA-4A1E-BDD1-68BAB16712F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7A33D-C393-4B92-9CC7-BFD4D30BD4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66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3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04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803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4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F370D-0CF7-EABD-BF76-A3F7543D2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7BF0F-2243-3F6C-DD9F-1B32545C9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FE7AB-E381-8DC7-5548-1669C713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3E3E4-7EBB-6A25-CF31-DB83B8C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9C616-8E87-0DB1-991E-3AA9F6B8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7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0AF8F49-4829-76BA-172B-64347676DA04}"/>
              </a:ext>
            </a:extLst>
          </p:cNvPr>
          <p:cNvSpPr/>
          <p:nvPr/>
        </p:nvSpPr>
        <p:spPr>
          <a:xfrm>
            <a:off x="0" y="8427"/>
            <a:ext cx="12192000" cy="9383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40018C-A4E5-98BB-6D7D-FA6646C9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50876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D47E-EC6E-2E40-2AE4-F54F6D1C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58"/>
            <a:ext cx="10515600" cy="477110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C1A3E-D03C-47D0-FCD2-CB02ED8D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02FB6-78D2-AC2B-D940-9A772906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99DE1-7C30-50F1-7CD1-3D503E7D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6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EC5C6-8644-4018-0915-54B4A6E7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7CD6F7-1172-97F8-BAA4-59A9DFF62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BC50A-CB8D-724E-8622-3B0390C1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8F838-0490-2C78-F925-96AE3A04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CAE93-7240-E1CA-96C4-10D59896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4C191-1D8B-8FCD-27BC-356A700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AC090-53BF-6C95-E2F3-F043A692B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210438-E756-E0D5-0392-C86BF04C5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52732-D45E-FBB6-CCE9-4E5178AA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3512E7-DF83-B8E7-F57E-9D3D17E6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0A6AA-2C2A-910A-4F3C-86C2DEB9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8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42160-3093-0703-9938-B9474BD6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85A91-2D71-2F27-6D30-D5DB02806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564712-5EF1-620E-331F-218C42C6E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6FC79C-F082-6840-B46B-42003D7E2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AC9152-F349-BBAE-8347-85B649B31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DB2C3B-4401-1A6E-A404-88FE429F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49BFA8-B165-5A74-E894-83F34770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E0FB0B-3F7A-11FF-F350-0C0E9532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1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A38E3-2BD7-F96F-1662-70E14C0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1EF7E7-0579-A4F2-CC71-8E149EA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1D8C06-E6C8-7B08-27DA-493FB710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EF2AD-61DD-5AED-F053-55937912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7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FA0D9C-6EB6-0949-DA4A-EAEB565E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176CED-2279-DA4A-9E31-972E7AB1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C24AD-597A-5377-3224-C9DD25B9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6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5EA14-7F0F-C495-7031-543894FF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3BD72-C05B-D8B5-08CD-8D7250928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94A923-1BB1-4247-8397-54807053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A2952-CF94-2DFE-6BDF-7A040E0E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48791-F012-6FC2-2E3A-0A4E021E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89366-8C12-811E-B8F9-039133E3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6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C2A07-3D0D-223A-BC33-E00AEF72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86672-93D4-5820-AF59-C176FECE1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4E62FE-64B8-5C90-3205-926AAFD94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ED888-343E-31DB-75EC-AA63CC87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48EAD-183C-B292-12B2-CD6CE31B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9B09A-8C63-8BFD-0232-D61D179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0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44313-F428-1E6B-C289-E006FE85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0996C7-2A48-6158-48AD-20A359E8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BA683-9197-32D1-3680-E51C42F9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CC580-7C7F-9C79-C302-C3B38000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A400B-0643-2935-A50A-718E1BDB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B43853-6A35-0C56-B06C-DEA41D1E2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2BFA76-B176-AB71-5057-E0606E5F7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D89D9-9588-16F3-04E3-78B3D672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866E6-41E5-9FAF-1CDF-CDCAB3FB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27832-1AC3-CBD7-D132-4E9D5EB8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4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E564E7-EB05-1352-754C-8ADACAEE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4D39A-E796-C7B1-B64C-59059B36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33F53-9826-EFD8-EF1E-E93A45278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48D2E-BD05-49CA-8FDD-232C7D92F850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3E5F3-782B-2308-A486-9524A8B8A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C11EC-C555-B1E3-55B2-EF2030D5C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8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F3D26-3B0F-2236-840B-A2FC1CD89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多项式插值与样条插值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E6C9B6-F8C6-4101-D1AC-C05D3FFC1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2546"/>
            <a:ext cx="9144000" cy="1045254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数值计算与最优化</a:t>
            </a:r>
            <a:r>
              <a:rPr lang="en-US" altLang="zh-CN" dirty="0"/>
              <a:t>》</a:t>
            </a:r>
            <a:r>
              <a:rPr lang="zh-CN" altLang="en-US" dirty="0"/>
              <a:t>第二次实验</a:t>
            </a:r>
          </a:p>
        </p:txBody>
      </p:sp>
    </p:spTree>
    <p:extLst>
      <p:ext uri="{BB962C8B-B14F-4D97-AF65-F5344CB8AC3E}">
        <p14:creationId xmlns:p14="http://schemas.microsoft.com/office/powerpoint/2010/main" val="338435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A9651-6A2C-64BF-AFE2-FB7EB027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155D1-5C9D-4187-FC08-712B2DC9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理解并熟练掌握三种插值法并能分析算法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拉格朗日插值法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牛顿插值法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三次样条插值法</a:t>
            </a:r>
          </a:p>
        </p:txBody>
      </p:sp>
    </p:spTree>
    <p:extLst>
      <p:ext uri="{BB962C8B-B14F-4D97-AF65-F5344CB8AC3E}">
        <p14:creationId xmlns:p14="http://schemas.microsoft.com/office/powerpoint/2010/main" val="189045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B89EA-16A6-6D87-F1B4-D1F6982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333EF-84EF-EE90-0BBD-EB0A2C122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报告内容</a:t>
            </a:r>
            <a:endParaRPr lang="en-US" altLang="zh-CN" dirty="0"/>
          </a:p>
          <a:p>
            <a:pPr lvl="1"/>
            <a:r>
              <a:rPr lang="zh-CN" altLang="en-US" dirty="0"/>
              <a:t>实验过程或算法（源程序）：算法设计（流程图）、代码</a:t>
            </a:r>
            <a:r>
              <a:rPr lang="en-US" altLang="zh-CN" dirty="0"/>
              <a:t>+</a:t>
            </a:r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zh-CN" altLang="en-US" dirty="0"/>
              <a:t>实验结果及分析：代码运行结果截图和对其的分析</a:t>
            </a:r>
            <a:endParaRPr lang="en-US" altLang="zh-CN" dirty="0"/>
          </a:p>
          <a:p>
            <a:pPr lvl="1"/>
            <a:r>
              <a:rPr lang="zh-CN" altLang="en-US" dirty="0"/>
              <a:t>源程序调试过程：写出遇到的问题及解决方式即可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请一定填写完整！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编程语言：</a:t>
            </a:r>
            <a:r>
              <a:rPr lang="zh-CN" altLang="en-US" b="1" dirty="0"/>
              <a:t>不限</a:t>
            </a:r>
            <a:r>
              <a:rPr lang="zh-CN" altLang="en-US" dirty="0"/>
              <a:t>（推荐使用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或</a:t>
            </a:r>
            <a:r>
              <a:rPr lang="en-US" altLang="zh-CN" dirty="0"/>
              <a:t>Java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Matlab</a:t>
            </a:r>
            <a:r>
              <a:rPr lang="zh-CN" altLang="en-US" dirty="0"/>
              <a:t>、</a:t>
            </a:r>
            <a:r>
              <a:rPr lang="en-US" altLang="zh-CN" dirty="0"/>
              <a:t>Mathematica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等数学专用语言也可以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但请注意不要仅调用数值计算库来解决！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实验报告</a:t>
            </a:r>
            <a:r>
              <a:rPr lang="en-US" altLang="zh-CN" dirty="0"/>
              <a:t>+</a:t>
            </a:r>
            <a:r>
              <a:rPr lang="zh-CN" altLang="en-US" dirty="0"/>
              <a:t>源程序（代码），提交至云班课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命名要求：学号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姓名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实验序号（如：</a:t>
            </a:r>
            <a:r>
              <a:rPr lang="en-US" altLang="zh-CN" dirty="0">
                <a:solidFill>
                  <a:srgbClr val="FF0000"/>
                </a:solidFill>
              </a:rPr>
              <a:t>20220001+</a:t>
            </a:r>
            <a:r>
              <a:rPr lang="zh-CN" altLang="en-US" dirty="0">
                <a:solidFill>
                  <a:srgbClr val="FF0000"/>
                </a:solidFill>
              </a:rPr>
              <a:t>李明</a:t>
            </a:r>
            <a:r>
              <a:rPr lang="en-US" altLang="zh-CN" dirty="0">
                <a:solidFill>
                  <a:srgbClr val="FF0000"/>
                </a:solidFill>
              </a:rPr>
              <a:t>+1.doc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91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4BFE8-5369-3FE2-8310-7A5928C1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r>
              <a:rPr lang="en-US" altLang="zh-CN" dirty="0"/>
              <a:t> – </a:t>
            </a:r>
            <a:r>
              <a:rPr lang="zh-CN" altLang="en-US" dirty="0"/>
              <a:t>拉格朗日插值法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5ADF80A-D4D0-223F-3E81-A53B10FE5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707" y="2442258"/>
            <a:ext cx="4192093" cy="276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F3F4834-40AA-20E1-58DA-9CD6B4BCCF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907236"/>
              </p:ext>
            </p:extLst>
          </p:nvPr>
        </p:nvGraphicFramePr>
        <p:xfrm>
          <a:off x="1068951" y="2407794"/>
          <a:ext cx="5470525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71266" imgH="2834738" progId="Equation.DSMT4">
                  <p:embed/>
                </p:oleObj>
              </mc:Choice>
              <mc:Fallback>
                <p:oleObj name="Equation" r:id="rId4" imgW="5471266" imgH="283473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8951" y="2407794"/>
                        <a:ext cx="5470525" cy="283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745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D908F-9E69-8913-3B4F-D048E761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牛顿插值法</a:t>
            </a:r>
          </a:p>
        </p:txBody>
      </p:sp>
      <p:graphicFrame>
        <p:nvGraphicFramePr>
          <p:cNvPr id="5" name="Group 149">
            <a:extLst>
              <a:ext uri="{FF2B5EF4-FFF2-40B4-BE49-F238E27FC236}">
                <a16:creationId xmlns:a16="http://schemas.microsoft.com/office/drawing/2014/main" id="{418433B5-90F9-3599-9A12-840F21CE8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87579"/>
              </p:ext>
            </p:extLst>
          </p:nvPr>
        </p:nvGraphicFramePr>
        <p:xfrm>
          <a:off x="838201" y="1284248"/>
          <a:ext cx="7229355" cy="2286000"/>
        </p:xfrm>
        <a:graphic>
          <a:graphicData uri="http://schemas.openxmlformats.org/drawingml/2006/table">
            <a:tbl>
              <a:tblPr/>
              <a:tblGrid>
                <a:gridCol w="1153000">
                  <a:extLst>
                    <a:ext uri="{9D8B030D-6E8A-4147-A177-3AD203B41FA5}">
                      <a16:colId xmlns:a16="http://schemas.microsoft.com/office/drawing/2014/main" val="892226678"/>
                    </a:ext>
                  </a:extLst>
                </a:gridCol>
                <a:gridCol w="1151579">
                  <a:extLst>
                    <a:ext uri="{9D8B030D-6E8A-4147-A177-3AD203B41FA5}">
                      <a16:colId xmlns:a16="http://schemas.microsoft.com/office/drawing/2014/main" val="236309534"/>
                    </a:ext>
                  </a:extLst>
                </a:gridCol>
                <a:gridCol w="1440185">
                  <a:extLst>
                    <a:ext uri="{9D8B030D-6E8A-4147-A177-3AD203B41FA5}">
                      <a16:colId xmlns:a16="http://schemas.microsoft.com/office/drawing/2014/main" val="2064480668"/>
                    </a:ext>
                  </a:extLst>
                </a:gridCol>
                <a:gridCol w="1775705">
                  <a:extLst>
                    <a:ext uri="{9D8B030D-6E8A-4147-A177-3AD203B41FA5}">
                      <a16:colId xmlns:a16="http://schemas.microsoft.com/office/drawing/2014/main" val="941284880"/>
                    </a:ext>
                  </a:extLst>
                </a:gridCol>
                <a:gridCol w="1708886">
                  <a:extLst>
                    <a:ext uri="{9D8B030D-6E8A-4147-A177-3AD203B41FA5}">
                      <a16:colId xmlns:a16="http://schemas.microsoft.com/office/drawing/2014/main" val="1345790208"/>
                    </a:ext>
                  </a:extLst>
                </a:gridCol>
              </a:tblGrid>
              <a:tr h="4213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三阶差商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37257"/>
                  </a:ext>
                </a:extLst>
              </a:tr>
              <a:tr h="305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297080"/>
                  </a:ext>
                </a:extLst>
              </a:tr>
              <a:tr h="305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191252"/>
                  </a:ext>
                </a:extLst>
              </a:tr>
              <a:tr h="305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f(x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f(x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823614"/>
                  </a:ext>
                </a:extLst>
              </a:tr>
              <a:tr h="305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f(x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,x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286844"/>
                  </a:ext>
                </a:extLst>
              </a:tr>
            </a:tbl>
          </a:graphicData>
        </a:graphic>
      </p:graphicFrame>
      <p:graphicFrame>
        <p:nvGraphicFramePr>
          <p:cNvPr id="7" name="Object 1">
            <a:extLst>
              <a:ext uri="{FF2B5EF4-FFF2-40B4-BE49-F238E27FC236}">
                <a16:creationId xmlns:a16="http://schemas.microsoft.com/office/drawing/2014/main" id="{C71DF436-6F42-E98C-2D0D-6C0EBFD1CE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583555"/>
              </p:ext>
            </p:extLst>
          </p:nvPr>
        </p:nvGraphicFramePr>
        <p:xfrm>
          <a:off x="755590" y="3835400"/>
          <a:ext cx="739457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292625" imgH="7458075" progId="Equation.DSMT4">
                  <p:embed/>
                </p:oleObj>
              </mc:Choice>
              <mc:Fallback>
                <p:oleObj name="Equation" r:id="rId3" imgW="55292625" imgH="7458075" progId="Equation.DSMT4">
                  <p:embed/>
                  <p:pic>
                    <p:nvPicPr>
                      <p:cNvPr id="1229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90" y="3835400"/>
                        <a:ext cx="739457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F215817A-3AAA-A2C9-E970-C73C296D1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246006"/>
              </p:ext>
            </p:extLst>
          </p:nvPr>
        </p:nvGraphicFramePr>
        <p:xfrm>
          <a:off x="755590" y="4944634"/>
          <a:ext cx="712946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20950" imgH="7896225" progId="Equation.DSMT4">
                  <p:embed/>
                </p:oleObj>
              </mc:Choice>
              <mc:Fallback>
                <p:oleObj name="Equation" r:id="rId5" imgW="53320950" imgH="7896225" progId="Equation.DSMT4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90" y="4944634"/>
                        <a:ext cx="7129462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967FF873-A9AC-41E1-593E-B4C00386B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3677" y="1409359"/>
            <a:ext cx="2976201" cy="4852083"/>
          </a:xfrm>
          <a:prstGeom prst="rect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altLang="zh-CN" sz="1800" i="1" dirty="0">
                <a:solidFill>
                  <a:srgbClr val="CC0000"/>
                </a:solidFill>
              </a:rPr>
              <a:t>Newton</a:t>
            </a:r>
            <a:r>
              <a:rPr lang="zh-CN" altLang="en-US" sz="1800" dirty="0">
                <a:solidFill>
                  <a:srgbClr val="CC0000"/>
                </a:solidFill>
              </a:rPr>
              <a:t>插值算法如下：</a:t>
            </a:r>
          </a:p>
          <a:p>
            <a:pPr algn="just">
              <a:lnSpc>
                <a:spcPct val="125000"/>
              </a:lnSpc>
            </a:pPr>
            <a:r>
              <a:rPr lang="en-US" altLang="zh-CN" sz="1800" i="1" dirty="0"/>
              <a:t>Input</a:t>
            </a:r>
            <a:r>
              <a:rPr lang="en-US" altLang="zh-CN" sz="1800" dirty="0"/>
              <a:t> </a:t>
            </a:r>
            <a:r>
              <a:rPr lang="en-US" altLang="zh-CN" sz="1800" i="1" dirty="0"/>
              <a:t>x</a:t>
            </a:r>
            <a:r>
              <a:rPr lang="en-US" altLang="zh-CN" sz="1800" dirty="0"/>
              <a:t>,(</a:t>
            </a:r>
            <a:r>
              <a:rPr lang="en-US" altLang="zh-CN" sz="1800" i="1" dirty="0" err="1"/>
              <a:t>x</a:t>
            </a:r>
            <a:r>
              <a:rPr lang="en-US" altLang="zh-CN" sz="1800" baseline="-30000" dirty="0" err="1"/>
              <a:t>i</a:t>
            </a:r>
            <a:r>
              <a:rPr lang="en-US" altLang="zh-CN" sz="1800" dirty="0" err="1"/>
              <a:t>,</a:t>
            </a:r>
            <a:r>
              <a:rPr lang="en-US" altLang="zh-CN" sz="1800" i="1" dirty="0" err="1"/>
              <a:t>y</a:t>
            </a:r>
            <a:r>
              <a:rPr lang="en-US" altLang="zh-CN" sz="1800" baseline="-30000" dirty="0" err="1"/>
              <a:t>i</a:t>
            </a:r>
            <a:r>
              <a:rPr lang="en-US" altLang="zh-CN" sz="1800" dirty="0"/>
              <a:t>),  </a:t>
            </a:r>
            <a:r>
              <a:rPr lang="en-US" altLang="zh-CN" sz="1800" i="1" dirty="0" err="1"/>
              <a:t>i</a:t>
            </a:r>
            <a:r>
              <a:rPr lang="en-US" altLang="zh-CN" sz="1800" dirty="0"/>
              <a:t>=0,1,…,</a:t>
            </a:r>
            <a:r>
              <a:rPr lang="en-US" altLang="zh-CN" sz="1800" i="1" dirty="0"/>
              <a:t>n</a:t>
            </a:r>
            <a:endParaRPr lang="en-US" altLang="zh-CN" sz="1800" dirty="0"/>
          </a:p>
          <a:p>
            <a:pPr algn="just">
              <a:lnSpc>
                <a:spcPct val="125000"/>
              </a:lnSpc>
            </a:pPr>
            <a:r>
              <a:rPr lang="en-US" altLang="zh-CN" sz="1800" i="1" dirty="0"/>
              <a:t>y</a:t>
            </a:r>
            <a:r>
              <a:rPr lang="en-US" altLang="zh-CN" sz="1800" dirty="0"/>
              <a:t>=</a:t>
            </a:r>
            <a:r>
              <a:rPr lang="en-US" altLang="zh-CN" sz="1800" i="1" dirty="0"/>
              <a:t>y</a:t>
            </a:r>
            <a:r>
              <a:rPr lang="en-US" altLang="zh-CN" sz="1800" baseline="-30000" dirty="0"/>
              <a:t>0</a:t>
            </a:r>
            <a:r>
              <a:rPr lang="en-US" altLang="zh-CN" sz="1800" dirty="0"/>
              <a:t>, </a:t>
            </a:r>
            <a:r>
              <a:rPr lang="en-US" altLang="zh-CN" sz="1800" i="1" dirty="0"/>
              <a:t>t</a:t>
            </a:r>
            <a:r>
              <a:rPr lang="en-US" altLang="zh-CN" sz="1800" dirty="0"/>
              <a:t>=1</a:t>
            </a:r>
          </a:p>
          <a:p>
            <a:pPr algn="just">
              <a:lnSpc>
                <a:spcPct val="125000"/>
              </a:lnSpc>
            </a:pPr>
            <a:r>
              <a:rPr lang="en-US" altLang="zh-CN" sz="1800" i="1" dirty="0"/>
              <a:t>For</a:t>
            </a:r>
            <a:r>
              <a:rPr lang="en-US" altLang="zh-CN" sz="1800" dirty="0"/>
              <a:t> </a:t>
            </a:r>
            <a:r>
              <a:rPr lang="en-US" altLang="zh-CN" sz="1800" i="1" dirty="0"/>
              <a:t>j</a:t>
            </a:r>
            <a:r>
              <a:rPr lang="en-US" altLang="zh-CN" sz="1800" dirty="0"/>
              <a:t>=1,…,</a:t>
            </a:r>
            <a:r>
              <a:rPr lang="en-US" altLang="zh-CN" sz="1800" i="1" dirty="0"/>
              <a:t>n</a:t>
            </a:r>
            <a:r>
              <a:rPr lang="en-US" altLang="zh-CN" sz="1800" dirty="0"/>
              <a:t> </a:t>
            </a:r>
            <a:r>
              <a:rPr lang="en-US" altLang="zh-CN" sz="1800" i="1" dirty="0"/>
              <a:t>do</a:t>
            </a:r>
            <a:r>
              <a:rPr lang="en-US" altLang="zh-CN" sz="1800" dirty="0"/>
              <a:t> 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800" i="1" dirty="0"/>
              <a:t>     	t</a:t>
            </a:r>
            <a:r>
              <a:rPr lang="en-US" altLang="zh-CN" sz="1800" dirty="0"/>
              <a:t>=</a:t>
            </a:r>
            <a:r>
              <a:rPr lang="en-US" altLang="zh-CN" sz="1800" i="1" dirty="0"/>
              <a:t>t</a:t>
            </a:r>
            <a:r>
              <a:rPr lang="en-US" altLang="zh-CN" sz="1800" dirty="0"/>
              <a:t>*(</a:t>
            </a:r>
            <a:r>
              <a:rPr lang="en-US" altLang="zh-CN" sz="1800" i="1" dirty="0"/>
              <a:t>x</a:t>
            </a:r>
            <a:r>
              <a:rPr lang="en-US" altLang="zh-CN" sz="1800" dirty="0"/>
              <a:t>-</a:t>
            </a:r>
            <a:r>
              <a:rPr lang="en-US" altLang="zh-CN" sz="1800" i="1" dirty="0"/>
              <a:t>x</a:t>
            </a:r>
            <a:r>
              <a:rPr lang="en-US" altLang="zh-CN" sz="1800" baseline="-30000" dirty="0"/>
              <a:t>j-1</a:t>
            </a:r>
            <a:r>
              <a:rPr lang="en-US" altLang="zh-CN" sz="1800" dirty="0"/>
              <a:t>)</a:t>
            </a: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</a:rPr>
              <a:t>           for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i="1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=0,…,</a:t>
            </a:r>
            <a:r>
              <a:rPr lang="en-US" altLang="zh-CN" sz="1800" i="1" dirty="0">
                <a:solidFill>
                  <a:srgbClr val="FF0000"/>
                </a:solidFill>
              </a:rPr>
              <a:t>n</a:t>
            </a:r>
            <a:r>
              <a:rPr lang="en-US" altLang="zh-CN" sz="1800" dirty="0">
                <a:solidFill>
                  <a:srgbClr val="FF0000"/>
                </a:solidFill>
              </a:rPr>
              <a:t>-</a:t>
            </a:r>
            <a:r>
              <a:rPr lang="en-US" altLang="zh-CN" sz="1800" i="1" dirty="0">
                <a:solidFill>
                  <a:srgbClr val="FF0000"/>
                </a:solidFill>
              </a:rPr>
              <a:t>j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i="1" dirty="0">
                <a:solidFill>
                  <a:srgbClr val="FF0000"/>
                </a:solidFill>
              </a:rPr>
              <a:t>do</a:t>
            </a:r>
          </a:p>
          <a:p>
            <a:pPr algn="just">
              <a:lnSpc>
                <a:spcPct val="125000"/>
              </a:lnSpc>
            </a:pPr>
            <a:endParaRPr lang="en-US" altLang="zh-CN" sz="1800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</a:pPr>
            <a:endParaRPr lang="en-US" altLang="zh-CN" sz="1800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800" i="1" dirty="0">
                <a:solidFill>
                  <a:srgbClr val="FF0000"/>
                </a:solidFill>
              </a:rPr>
              <a:t>           end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  <a:buFontTx/>
              <a:buNone/>
            </a:pPr>
            <a:r>
              <a:rPr lang="en-US" altLang="zh-CN" sz="1800" i="1" dirty="0"/>
              <a:t>           y</a:t>
            </a:r>
            <a:r>
              <a:rPr lang="en-US" altLang="zh-CN" sz="1800" dirty="0"/>
              <a:t>=</a:t>
            </a:r>
            <a:r>
              <a:rPr lang="en-US" altLang="zh-CN" sz="1800" i="1" dirty="0"/>
              <a:t>y</a:t>
            </a:r>
            <a:r>
              <a:rPr lang="en-US" altLang="zh-CN" sz="1800" dirty="0"/>
              <a:t>+</a:t>
            </a:r>
            <a:r>
              <a:rPr lang="en-US" altLang="zh-CN" sz="1800" i="1" dirty="0"/>
              <a:t>y</a:t>
            </a:r>
            <a:r>
              <a:rPr lang="en-US" altLang="zh-CN" sz="1800" baseline="-30000" dirty="0"/>
              <a:t>0</a:t>
            </a:r>
            <a:r>
              <a:rPr lang="en-US" altLang="zh-CN" sz="1800" dirty="0"/>
              <a:t>*</a:t>
            </a:r>
            <a:r>
              <a:rPr lang="en-US" altLang="zh-CN" sz="1800" i="1" dirty="0"/>
              <a:t>t</a:t>
            </a:r>
            <a:endParaRPr lang="en-US" altLang="zh-CN" sz="1800" dirty="0"/>
          </a:p>
          <a:p>
            <a:pPr algn="just">
              <a:lnSpc>
                <a:spcPct val="125000"/>
              </a:lnSpc>
            </a:pPr>
            <a:r>
              <a:rPr lang="en-US" altLang="zh-CN" sz="1800" i="1" dirty="0"/>
              <a:t>end</a:t>
            </a:r>
            <a:endParaRPr lang="en-US" altLang="zh-CN" sz="1800" dirty="0"/>
          </a:p>
          <a:p>
            <a:pPr>
              <a:lnSpc>
                <a:spcPct val="125000"/>
              </a:lnSpc>
            </a:pPr>
            <a:r>
              <a:rPr lang="en-US" altLang="zh-CN" sz="1800" i="1" dirty="0"/>
              <a:t>o</a:t>
            </a:r>
            <a:r>
              <a:rPr lang="en-US" altLang="zh-CN" sz="1800" i="1" dirty="0">
                <a:cs typeface="Times New Roman" panose="02020603050405020304" pitchFamily="18" charset="0"/>
              </a:rPr>
              <a:t>utput</a:t>
            </a:r>
            <a:r>
              <a:rPr lang="en-US" altLang="zh-CN" sz="1800" dirty="0"/>
              <a:t> 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cs typeface="Times New Roman" panose="02020603050405020304" pitchFamily="18" charset="0"/>
              </a:rPr>
              <a:t>y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527511D-0D47-B437-9A27-1D1F4A5C9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208159"/>
              </p:ext>
            </p:extLst>
          </p:nvPr>
        </p:nvGraphicFramePr>
        <p:xfrm>
          <a:off x="9854231" y="3929448"/>
          <a:ext cx="1323278" cy="700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1033" imgH="1059196" progId="Equation.DSMT4">
                  <p:embed/>
                </p:oleObj>
              </mc:Choice>
              <mc:Fallback>
                <p:oleObj name="Equation" r:id="rId7" imgW="2001033" imgH="105919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54231" y="3929448"/>
                        <a:ext cx="1323278" cy="700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19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7D4FE-2BD1-104E-5FCE-A48A5CD5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8FD65B-8B44-5175-6137-BE1EB241D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7124"/>
          <a:stretch/>
        </p:blipFill>
        <p:spPr>
          <a:xfrm>
            <a:off x="838200" y="1274400"/>
            <a:ext cx="10515600" cy="18494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A20A9D1-7F1F-E233-9473-A9E82069B6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450"/>
          <a:stretch/>
        </p:blipFill>
        <p:spPr>
          <a:xfrm>
            <a:off x="838200" y="3506400"/>
            <a:ext cx="10515600" cy="232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5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3D62E-1222-A1C2-C0DA-ABD0AFC8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DBC108E-4C44-312B-1AAB-E6CBB2AAA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84620"/>
            <a:ext cx="10515600" cy="363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13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3D62E-1222-A1C2-C0DA-ABD0AFC8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BD9F125-A843-9A13-C40C-55C78F7C7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3912"/>
            <a:ext cx="10515600" cy="27388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9449DE-5C4F-4D4B-9ECB-3FA8BFBF62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695"/>
          <a:stretch/>
        </p:blipFill>
        <p:spPr>
          <a:xfrm>
            <a:off x="1046380" y="4102776"/>
            <a:ext cx="10307420" cy="13782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75DA0D7-193D-AEF9-07C7-27AF7C6480EF}"/>
              </a:ext>
            </a:extLst>
          </p:cNvPr>
          <p:cNvSpPr/>
          <p:nvPr/>
        </p:nvSpPr>
        <p:spPr>
          <a:xfrm>
            <a:off x="1310400" y="4102776"/>
            <a:ext cx="9172800" cy="139131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ECEE-33C1-CBC9-D5DD-4E5AAADD1299}"/>
              </a:ext>
            </a:extLst>
          </p:cNvPr>
          <p:cNvSpPr txBox="1"/>
          <p:nvPr/>
        </p:nvSpPr>
        <p:spPr>
          <a:xfrm>
            <a:off x="1310400" y="5666400"/>
            <a:ext cx="91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注意：本次实验使用自然边界条件</a:t>
            </a:r>
          </a:p>
        </p:txBody>
      </p:sp>
    </p:spTree>
    <p:extLst>
      <p:ext uri="{BB962C8B-B14F-4D97-AF65-F5344CB8AC3E}">
        <p14:creationId xmlns:p14="http://schemas.microsoft.com/office/powerpoint/2010/main" val="412314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3D62E-1222-A1C2-C0DA-ABD0AFC8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67E2C7D-D180-0534-33E0-1596084E4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080" y="1222168"/>
            <a:ext cx="10237839" cy="51642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30EF29E-B52D-C77C-A092-3557ACFF1176}"/>
              </a:ext>
            </a:extLst>
          </p:cNvPr>
          <p:cNvSpPr/>
          <p:nvPr/>
        </p:nvSpPr>
        <p:spPr>
          <a:xfrm>
            <a:off x="741600" y="5635832"/>
            <a:ext cx="10612200" cy="7865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29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3D62E-1222-A1C2-C0DA-ABD0AFC8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96120AB-7191-E3FC-12FC-18A20E028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1875"/>
            <a:ext cx="10515600" cy="37069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970CB9-D6E2-F17F-F7AE-6274805A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77402"/>
            <a:ext cx="10515600" cy="109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1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3D62E-1222-A1C2-C0DA-ABD0AFC8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三次样条插值法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0BB52E2-6A54-3320-8BBA-B328D1A23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719" y="1303286"/>
            <a:ext cx="9540561" cy="4979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FD6CF9-8CDB-77CD-77FC-F4ECA192C8EC}"/>
                  </a:ext>
                </a:extLst>
              </p:cNvPr>
              <p:cNvSpPr txBox="1"/>
              <p:nvPr/>
            </p:nvSpPr>
            <p:spPr>
              <a:xfrm>
                <a:off x="7777683" y="4128541"/>
                <a:ext cx="3754857" cy="2308324"/>
              </a:xfrm>
              <a:prstGeom prst="rect">
                <a:avLst/>
              </a:prstGeom>
              <a:solidFill>
                <a:srgbClr val="FF0000">
                  <a:alpha val="25000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将这里计算得到的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M, h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等带回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式就得到了一个区间的三次样条函数，然后再继续求每个区间的函数就可以了。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注意：对于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以前的点使用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的三次样条函数求值，对于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以后的点使用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的三次样条函数求值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FD6CF9-8CDB-77CD-77FC-F4ECA192C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683" y="4128541"/>
                <a:ext cx="3754857" cy="2308324"/>
              </a:xfrm>
              <a:prstGeom prst="rect">
                <a:avLst/>
              </a:prstGeom>
              <a:blipFill>
                <a:blip r:embed="rId3"/>
                <a:stretch>
                  <a:fillRect l="-1461" t="-1319" r="-3571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1949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Presentation" id="{0C765E85-DE93-4FB2-BD9B-BF4D3678169B}" vid="{DB726142-7519-4725-AA80-73A8FC2D2BA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Words>420</Words>
  <Application>Microsoft Office PowerPoint</Application>
  <PresentationFormat>宽屏</PresentationFormat>
  <Paragraphs>65</Paragraphs>
  <Slides>11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微软雅黑</vt:lpstr>
      <vt:lpstr>Arial</vt:lpstr>
      <vt:lpstr>Arial Black</vt:lpstr>
      <vt:lpstr>Cambria Math</vt:lpstr>
      <vt:lpstr>Times New Roman</vt:lpstr>
      <vt:lpstr>Wingdings</vt:lpstr>
      <vt:lpstr>SimplePresentation</vt:lpstr>
      <vt:lpstr>Equation</vt:lpstr>
      <vt:lpstr>多项式插值与样条插值</vt:lpstr>
      <vt:lpstr>实验目的</vt:lpstr>
      <vt:lpstr>实验要求</vt:lpstr>
      <vt:lpstr>实验内容 – 拉格朗日插值法</vt:lpstr>
      <vt:lpstr>实验内容 – 牛顿插值法</vt:lpstr>
      <vt:lpstr>实验内容 – 三次样条插值法</vt:lpstr>
      <vt:lpstr>实验内容 – 三次样条插值法</vt:lpstr>
      <vt:lpstr>实验内容 – 三次样条插值法</vt:lpstr>
      <vt:lpstr>实验内容 – 三次样条插值法</vt:lpstr>
      <vt:lpstr>实验内容 – 三次样条插值法</vt:lpstr>
      <vt:lpstr>实验内容 – 三次样条插值法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线性方程组和非线性方程的求解</dc:title>
  <dc:creator>Yipeng Liu</dc:creator>
  <cp:lastModifiedBy>Yipeng Liu</cp:lastModifiedBy>
  <cp:revision>128</cp:revision>
  <dcterms:created xsi:type="dcterms:W3CDTF">2024-03-27T13:31:01Z</dcterms:created>
  <dcterms:modified xsi:type="dcterms:W3CDTF">2024-04-11T13:33:25Z</dcterms:modified>
</cp:coreProperties>
</file>