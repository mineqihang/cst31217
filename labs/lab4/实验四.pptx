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1"/>
  </p:notesMasterIdLst>
  <p:sldIdLst>
    <p:sldId id="256" r:id="rId2"/>
    <p:sldId id="257" r:id="rId3"/>
    <p:sldId id="259" r:id="rId4"/>
    <p:sldId id="263" r:id="rId5"/>
    <p:sldId id="266" r:id="rId6"/>
    <p:sldId id="261" r:id="rId7"/>
    <p:sldId id="264" r:id="rId8"/>
    <p:sldId id="274" r:id="rId9"/>
    <p:sldId id="275" r:id="rId10"/>
    <p:sldId id="271" r:id="rId11"/>
    <p:sldId id="276" r:id="rId12"/>
    <p:sldId id="277" r:id="rId13"/>
    <p:sldId id="279" r:id="rId14"/>
    <p:sldId id="278" r:id="rId15"/>
    <p:sldId id="282" r:id="rId16"/>
    <p:sldId id="280" r:id="rId17"/>
    <p:sldId id="283" r:id="rId18"/>
    <p:sldId id="281" r:id="rId19"/>
    <p:sldId id="26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5" autoAdjust="0"/>
    <p:restoredTop sz="88616" autoAdjust="0"/>
  </p:normalViewPr>
  <p:slideViewPr>
    <p:cSldViewPr snapToGrid="0">
      <p:cViewPr varScale="1">
        <p:scale>
          <a:sx n="94" d="100"/>
          <a:sy n="94" d="100"/>
        </p:scale>
        <p:origin x="5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F9C43-E3DA-4A1E-BDD1-68BAB16712F5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7A33D-C393-4B92-9CC7-BFD4D30BD4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66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3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71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altLang="zh-CN" dirty="0"/>
              <a:t>f(x,y)=x cos(2 π y)+y sin(2 π x)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59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129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010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08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21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285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40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01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528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756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86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17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356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41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64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F370D-0CF7-EABD-BF76-A3F7543D2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7BF0F-2243-3F6C-DD9F-1B32545C9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FE7AB-E381-8DC7-5548-1669C713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3E3E4-7EBB-6A25-CF31-DB83B8C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9C616-8E87-0DB1-991E-3AA9F6B8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7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0AF8F49-4829-76BA-172B-64347676DA04}"/>
              </a:ext>
            </a:extLst>
          </p:cNvPr>
          <p:cNvSpPr/>
          <p:nvPr/>
        </p:nvSpPr>
        <p:spPr>
          <a:xfrm>
            <a:off x="0" y="8427"/>
            <a:ext cx="12192000" cy="9383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40018C-A4E5-98BB-6D7D-FA6646C9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50876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D47E-EC6E-2E40-2AE4-F54F6D1C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58"/>
            <a:ext cx="10515600" cy="477110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C1A3E-D03C-47D0-FCD2-CB02ED8D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02FB6-78D2-AC2B-D940-9A772906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99DE1-7C30-50F1-7CD1-3D503E7D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6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EC5C6-8644-4018-0915-54B4A6E7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7CD6F7-1172-97F8-BAA4-59A9DFF62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BC50A-CB8D-724E-8622-3B0390C1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8F838-0490-2C78-F925-96AE3A04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CAE93-7240-E1CA-96C4-10D59896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4C191-1D8B-8FCD-27BC-356A700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AC090-53BF-6C95-E2F3-F043A692B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210438-E756-E0D5-0392-C86BF04C5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52732-D45E-FBB6-CCE9-4E5178AA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3512E7-DF83-B8E7-F57E-9D3D17E6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0A6AA-2C2A-910A-4F3C-86C2DEB9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8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42160-3093-0703-9938-B9474BD6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85A91-2D71-2F27-6D30-D5DB02806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564712-5EF1-620E-331F-218C42C6E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6FC79C-F082-6840-B46B-42003D7E2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AC9152-F349-BBAE-8347-85B649B31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DB2C3B-4401-1A6E-A404-88FE429F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49BFA8-B165-5A74-E894-83F34770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E0FB0B-3F7A-11FF-F350-0C0E9532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1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A38E3-2BD7-F96F-1662-70E14C0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1EF7E7-0579-A4F2-CC71-8E149EA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1D8C06-E6C8-7B08-27DA-493FB710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EF2AD-61DD-5AED-F053-55937912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7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FA0D9C-6EB6-0949-DA4A-EAEB565E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176CED-2279-DA4A-9E31-972E7AB1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C24AD-597A-5377-3224-C9DD25B9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6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5EA14-7F0F-C495-7031-543894FF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3BD72-C05B-D8B5-08CD-8D7250928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94A923-1BB1-4247-8397-54807053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A2952-CF94-2DFE-6BDF-7A040E0E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48791-F012-6FC2-2E3A-0A4E021E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89366-8C12-811E-B8F9-039133E3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6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C2A07-3D0D-223A-BC33-E00AEF72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86672-93D4-5820-AF59-C176FECE1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4E62FE-64B8-5C90-3205-926AAFD94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ED888-343E-31DB-75EC-AA63CC87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48EAD-183C-B292-12B2-CD6CE31B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9B09A-8C63-8BFD-0232-D61D179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0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44313-F428-1E6B-C289-E006FE85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0996C7-2A48-6158-48AD-20A359E8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BA683-9197-32D1-3680-E51C42F9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CC580-7C7F-9C79-C302-C3B38000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A400B-0643-2935-A50A-718E1BDB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B43853-6A35-0C56-B06C-DEA41D1E2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2BFA76-B176-AB71-5057-E0606E5F7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D89D9-9588-16F3-04E3-78B3D672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866E6-41E5-9FAF-1CDF-CDCAB3FB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27832-1AC3-CBD7-D132-4E9D5EB8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4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E564E7-EB05-1352-754C-8ADACAEE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4D39A-E796-C7B1-B64C-59059B36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33F53-9826-EFD8-EF1E-E93A45278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48D2E-BD05-49CA-8FDD-232C7D92F850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3E5F3-782B-2308-A486-9524A8B8A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C11EC-C555-B1E3-55B2-EF2030D5C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8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Visio___.vsd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5.emf"/><Relationship Id="rId4" Type="http://schemas.openxmlformats.org/officeDocument/2006/relationships/package" Target="../embeddings/Microsoft_Visio___.vsd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package" Target="../embeddings/Microsoft_Visio___.vsdx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gif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F3D26-3B0F-2236-840B-A2FC1CD89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遗传算法及其应用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E6C9B6-F8C6-4101-D1AC-C05D3FFC1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2546"/>
            <a:ext cx="9144000" cy="1045254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数值计算与最优化</a:t>
            </a:r>
            <a:r>
              <a:rPr lang="en-US" altLang="zh-CN" dirty="0"/>
              <a:t>》</a:t>
            </a:r>
            <a:r>
              <a:rPr lang="zh-CN" altLang="en-US" dirty="0"/>
              <a:t>第四次实验</a:t>
            </a:r>
          </a:p>
        </p:txBody>
      </p:sp>
    </p:spTree>
    <p:extLst>
      <p:ext uri="{BB962C8B-B14F-4D97-AF65-F5344CB8AC3E}">
        <p14:creationId xmlns:p14="http://schemas.microsoft.com/office/powerpoint/2010/main" val="338435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A9651-6A2C-64BF-AFE2-FB7EB027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155D1-5C9D-4187-FC08-712B2DC9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理解遗传算法的基本思想，并应用于求解实际问题。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045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B89EA-16A6-6D87-F1B4-D1F6982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333EF-84EF-EE90-0BBD-EB0A2C122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报告内容</a:t>
            </a:r>
            <a:endParaRPr lang="en-US" altLang="zh-CN" dirty="0"/>
          </a:p>
          <a:p>
            <a:pPr lvl="1"/>
            <a:r>
              <a:rPr lang="zh-CN" altLang="en-US" dirty="0"/>
              <a:t>实验过程或算法（源程序）：算法设计（流程图）、代码</a:t>
            </a:r>
            <a:r>
              <a:rPr lang="en-US" altLang="zh-CN" dirty="0"/>
              <a:t>+</a:t>
            </a:r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zh-CN" altLang="en-US" dirty="0"/>
              <a:t>实验结果及分析：代码运行结果截图和对其的分析</a:t>
            </a:r>
            <a:endParaRPr lang="en-US" altLang="zh-CN" dirty="0"/>
          </a:p>
          <a:p>
            <a:pPr lvl="1"/>
            <a:r>
              <a:rPr lang="zh-CN" altLang="en-US" dirty="0"/>
              <a:t>源程序调试过程：写出遇到的问题及解决方式即可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请一定填写完整！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编程语言：</a:t>
            </a:r>
            <a:r>
              <a:rPr lang="zh-CN" altLang="en-US" b="1" dirty="0"/>
              <a:t>不限</a:t>
            </a:r>
            <a:r>
              <a:rPr lang="zh-CN" altLang="en-US" dirty="0"/>
              <a:t>（推荐使用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或</a:t>
            </a:r>
            <a:r>
              <a:rPr lang="en-US" altLang="zh-CN" dirty="0"/>
              <a:t>Java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Matlab</a:t>
            </a:r>
            <a:r>
              <a:rPr lang="zh-CN" altLang="en-US" dirty="0"/>
              <a:t>、</a:t>
            </a:r>
            <a:r>
              <a:rPr lang="en-US" altLang="zh-CN" dirty="0"/>
              <a:t>Mathematica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等数学专用语言也可以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但请注意不要仅调用数值计算库来解决！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实验报告</a:t>
            </a:r>
            <a:r>
              <a:rPr lang="en-US" altLang="zh-CN" dirty="0"/>
              <a:t>+</a:t>
            </a:r>
            <a:r>
              <a:rPr lang="zh-CN" altLang="en-US" dirty="0"/>
              <a:t>源程序（代码），提交至云班课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命名要求：学号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姓名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实验序号（如：</a:t>
            </a:r>
            <a:r>
              <a:rPr lang="en-US" altLang="zh-CN" dirty="0">
                <a:solidFill>
                  <a:srgbClr val="FF0000"/>
                </a:solidFill>
              </a:rPr>
              <a:t>20220001+</a:t>
            </a:r>
            <a:r>
              <a:rPr lang="zh-CN" altLang="en-US" dirty="0">
                <a:solidFill>
                  <a:srgbClr val="FF0000"/>
                </a:solidFill>
              </a:rPr>
              <a:t>李明</a:t>
            </a:r>
            <a:r>
              <a:rPr lang="en-US" altLang="zh-CN" dirty="0">
                <a:solidFill>
                  <a:srgbClr val="FF0000"/>
                </a:solidFill>
              </a:rPr>
              <a:t>+4.doc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91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遗传算法求解旅行商问题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一个旅行者需要到国内的</a:t>
            </a:r>
            <a:r>
              <a:rPr lang="en-US" altLang="zh-CN" dirty="0"/>
              <a:t>10</a:t>
            </a:r>
            <a:r>
              <a:rPr lang="zh-CN" altLang="en-US" dirty="0"/>
              <a:t>个城市旅行，各城市的坐标见</a:t>
            </a:r>
            <a:r>
              <a:rPr lang="en-US" altLang="zh-CN" dirty="0"/>
              <a:t>cities.csv</a:t>
            </a:r>
            <a:r>
              <a:rPr lang="zh-CN" altLang="en-US" dirty="0"/>
              <a:t>文档。请设计一个合理的线路使旅行者所行的路程（坐标间距离，非球面距离）之和最小。注意：每个城市只能访问一次，且最后要回到原来出来的城市。</a:t>
            </a:r>
          </a:p>
          <a:p>
            <a:r>
              <a:rPr lang="zh-CN" altLang="en-US" b="1" dirty="0"/>
              <a:t>要求：输出适应度函数的</a:t>
            </a:r>
            <a:r>
              <a:rPr lang="zh-CN" altLang="en-US" b="1" dirty="0">
                <a:solidFill>
                  <a:srgbClr val="FF0000"/>
                </a:solidFill>
              </a:rPr>
              <a:t>进化曲线</a:t>
            </a:r>
            <a:r>
              <a:rPr lang="zh-CN" altLang="en-US" b="1" dirty="0"/>
              <a:t>，展示</a:t>
            </a:r>
            <a:r>
              <a:rPr lang="zh-CN" altLang="en-US" b="1" dirty="0">
                <a:solidFill>
                  <a:srgbClr val="FF0000"/>
                </a:solidFill>
              </a:rPr>
              <a:t>线路的动态变化过程</a:t>
            </a:r>
            <a:r>
              <a:rPr lang="zh-CN" altLang="en-US" b="1" dirty="0"/>
              <a:t>及</a:t>
            </a:r>
            <a:r>
              <a:rPr lang="zh-CN" altLang="en-US" b="1" dirty="0">
                <a:solidFill>
                  <a:srgbClr val="FF0000"/>
                </a:solidFill>
              </a:rPr>
              <a:t>最终的线路图</a:t>
            </a:r>
            <a:r>
              <a:rPr lang="zh-CN" altLang="en-US" b="1" dirty="0"/>
              <a:t>。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DEE32A-5167-29CD-95FF-A51D0CB7C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521" y="3424707"/>
            <a:ext cx="3570679" cy="26017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35B37F-6423-E162-AD2D-1F1C69CB8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33" y="3429000"/>
            <a:ext cx="3511046" cy="2597426"/>
          </a:xfrm>
          <a:prstGeom prst="rect">
            <a:avLst/>
          </a:prstGeom>
        </p:spPr>
      </p:pic>
      <p:pic>
        <p:nvPicPr>
          <p:cNvPr id="6" name="屏幕录制 2024-05-11 095633">
            <a:hlinkClick r:id="" action="ppaction://media"/>
            <a:extLst>
              <a:ext uri="{FF2B5EF4-FFF2-40B4-BE49-F238E27FC236}">
                <a16:creationId xmlns:a16="http://schemas.microsoft.com/office/drawing/2014/main" id="{705E837E-8FCC-D265-48CB-C3C324F921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68512" y="3367883"/>
            <a:ext cx="3511046" cy="26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1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遗传算法求解函数极大值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264B4F16-D3FC-332B-D5E7-3B46FCFC3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遗传算法求取以下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目标函数的极大值</a:t>
                </a:r>
                <a:r>
                  <a:rPr lang="zh-CN" altLang="en-US" dirty="0"/>
                  <a:t>：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r>
                  <a:rPr lang="zh-CN" altLang="en-US" dirty="0"/>
                  <a:t>要求：种群初始随机，范围分别为</a:t>
                </a:r>
                <a:r>
                  <a:rPr lang="en-US" altLang="zh-CN" dirty="0"/>
                  <a:t>[-2, 2]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[-2, 2]</a:t>
                </a:r>
                <a:r>
                  <a:rPr lang="zh-CN" altLang="en-US" dirty="0"/>
                  <a:t>，染色体长度为</a:t>
                </a:r>
                <a:r>
                  <a:rPr lang="en-US" altLang="zh-CN" dirty="0"/>
                  <a:t>20</a:t>
                </a:r>
                <a:r>
                  <a:rPr lang="zh-CN" altLang="en-US" dirty="0"/>
                  <a:t>，交叉概率</a:t>
                </a:r>
                <a:r>
                  <a:rPr lang="en-US" altLang="zh-CN" dirty="0"/>
                  <a:t>0.7</a:t>
                </a:r>
                <a:r>
                  <a:rPr lang="zh-CN" altLang="en-US" dirty="0"/>
                  <a:t>，变异概率为</a:t>
                </a:r>
                <a:r>
                  <a:rPr lang="en-US" altLang="zh-CN" dirty="0"/>
                  <a:t>0.01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264B4F16-D3FC-332B-D5E7-3B46FCFC3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BE1733B-94B7-235E-85CB-3853F3913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772" y="3014842"/>
            <a:ext cx="4558455" cy="338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B1BF632-E09F-CDBA-5B3C-BAC068E44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242" y="1405858"/>
            <a:ext cx="3773557" cy="477110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两种方式皆可。</a:t>
            </a:r>
            <a:endParaRPr lang="en-US" altLang="zh-CN" sz="2000" dirty="0"/>
          </a:p>
          <a:p>
            <a:r>
              <a:rPr lang="zh-CN" altLang="en-US" sz="2000" dirty="0"/>
              <a:t>他们的主要区别是：左边的方法是</a:t>
            </a:r>
            <a:r>
              <a:rPr lang="zh-CN" altLang="en-US" sz="2000" dirty="0">
                <a:solidFill>
                  <a:srgbClr val="FF0000"/>
                </a:solidFill>
              </a:rPr>
              <a:t>对原种群顺序</a:t>
            </a:r>
            <a:r>
              <a:rPr lang="zh-CN" altLang="en-US" sz="2000" dirty="0"/>
              <a:t>进行选择、交叉和变异的，右边的的方法</a:t>
            </a:r>
            <a:r>
              <a:rPr lang="zh-CN" altLang="en-US" sz="2000" dirty="0">
                <a:solidFill>
                  <a:srgbClr val="FF0000"/>
                </a:solidFill>
              </a:rPr>
              <a:t>依据概率对原种群进行复制、交叉和变异</a:t>
            </a:r>
            <a:r>
              <a:rPr lang="zh-CN" altLang="en-US" sz="2000" dirty="0"/>
              <a:t>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653A92-80B6-B27C-4E07-43FDE4535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789" y="227364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36EB815-B4DF-369E-C803-5B79AD92F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263656"/>
              </p:ext>
            </p:extLst>
          </p:nvPr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 descr="https://img-blog.csdnimg.cn/2019052511151230.png?x-oss-process=image/watermark,type_ZmFuZ3poZW5naGVpdGk,shadow_10,text_aHR0cHM6Ly9ibG9nLmNzZG4ubmV0L3FxXzM0NTU0MDM5,size_16,color_FFFFFF,t_70">
            <a:extLst>
              <a:ext uri="{FF2B5EF4-FFF2-40B4-BE49-F238E27FC236}">
                <a16:creationId xmlns:a16="http://schemas.microsoft.com/office/drawing/2014/main" id="{FEEDE3A9-9BAA-3B95-330E-388888EA0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" t="4005" r="7143" b="4980"/>
          <a:stretch/>
        </p:blipFill>
        <p:spPr bwMode="auto">
          <a:xfrm>
            <a:off x="4014351" y="1133206"/>
            <a:ext cx="3347232" cy="553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1909268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初始化种群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2306" y="1405858"/>
            <a:ext cx="7981493" cy="49863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确定种群数量</a:t>
            </a:r>
            <a:r>
              <a:rPr lang="zh-CN" altLang="en-US" sz="2000" dirty="0"/>
              <a:t>。种群的数量会影响遗传算法的多个方面：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搜索空间覆盖度</a:t>
            </a:r>
            <a:r>
              <a:rPr lang="zh-CN" altLang="en-US" sz="1600" dirty="0"/>
              <a:t>：更大的初始种群可能意味着更广泛的搜索空间覆盖，有助于算法发现更多可能的解。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多样性</a:t>
            </a:r>
            <a:r>
              <a:rPr lang="zh-CN" altLang="en-US" sz="1600" dirty="0"/>
              <a:t>：初始种群的大小可以影响种群中解的多样性。较大的种群可能包含更多不同的解，有助于保持多样性，避免早熟收敛。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计算资源</a:t>
            </a:r>
            <a:r>
              <a:rPr lang="zh-CN" altLang="en-US" sz="1600" dirty="0"/>
              <a:t>：种群的大小直接影响到算法所需的计算资源。更大的种群意味着每次迭代需要评估更多的个体，可能会导致计算时间的增加。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收敛速度</a:t>
            </a:r>
            <a:r>
              <a:rPr lang="zh-CN" altLang="en-US" sz="1600" dirty="0"/>
              <a:t>：初始种群的大小可能会影响算法的收敛速度。理论上，较大的种群可能有助于更快地找到全局最优解，但这也取决于种群中解的质量。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早熟收敛风险</a:t>
            </a:r>
            <a:r>
              <a:rPr lang="zh-CN" altLang="en-US" sz="1600" dirty="0"/>
              <a:t>：如果种群过大，可能导致算法过早地收敛到局部最优解，从而错过全局最优解。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交叉和变异操作的效果</a:t>
            </a:r>
            <a:r>
              <a:rPr lang="zh-CN" altLang="en-US" sz="1600" dirty="0"/>
              <a:t>：种群的大小可能会影响交叉和变异操作的效果。在较小的种群中，由于个体间的相似性可能更高，这些操作可能不那么有效。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解的质量</a:t>
            </a:r>
            <a:r>
              <a:rPr lang="zh-CN" altLang="en-US" sz="1600" dirty="0"/>
              <a:t>：种群的大小可能会影响最终解的质量。一个适度的种群大小可以平衡搜索空间的覆盖度和算法的效率。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>
                <a:solidFill>
                  <a:srgbClr val="00B0F0"/>
                </a:solidFill>
              </a:rPr>
              <a:t>稳定性</a:t>
            </a:r>
            <a:r>
              <a:rPr lang="zh-CN" altLang="en-US" sz="1600" dirty="0"/>
              <a:t>：种群的大小也可能影响算法结果的稳定性。较小的种群可能导致结果的波动性更大，因为随机性的影响更显著。</a:t>
            </a:r>
            <a:endParaRPr lang="en-US" altLang="zh-CN" sz="16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38105"/>
              </p:ext>
            </p:extLst>
          </p:nvPr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36EB815-B4DF-369E-C803-5B79AD92F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317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1909268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初始化种群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2306" y="1405858"/>
            <a:ext cx="7981493" cy="49863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确定个体编码</a:t>
            </a:r>
            <a:r>
              <a:rPr lang="zh-CN" altLang="en-US" sz="2000" dirty="0"/>
              <a:t>。以实验内容为例：</a:t>
            </a:r>
            <a:endParaRPr lang="en-US" altLang="zh-CN" sz="2000" dirty="0"/>
          </a:p>
          <a:p>
            <a:pPr lvl="1"/>
            <a:r>
              <a:rPr lang="zh-CN" altLang="en-US" sz="1800" dirty="0"/>
              <a:t>旅行商问题：一共</a:t>
            </a:r>
            <a:r>
              <a:rPr lang="en-US" altLang="zh-CN" sz="1800" dirty="0"/>
              <a:t>10</a:t>
            </a:r>
            <a:r>
              <a:rPr lang="zh-CN" altLang="en-US" sz="1800" dirty="0"/>
              <a:t>个城市，我们可以以经过城市编号顺序作为编码。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zh-CN" altLang="en-US" sz="1800" dirty="0"/>
              <a:t>极大值求解：两个实数</a:t>
            </a:r>
            <a:r>
              <a:rPr lang="en-US" altLang="zh-CN" sz="1800" dirty="0"/>
              <a:t>X,Y</a:t>
            </a:r>
            <a:r>
              <a:rPr lang="zh-CN" altLang="en-US" sz="1800" dirty="0"/>
              <a:t>，要求编码长度为</a:t>
            </a:r>
            <a:r>
              <a:rPr lang="en-US" altLang="zh-CN" sz="1800" dirty="0"/>
              <a:t>20</a:t>
            </a:r>
            <a:r>
              <a:rPr lang="zh-CN" altLang="en-US" sz="1800" dirty="0"/>
              <a:t>，范围均需要在</a:t>
            </a:r>
            <a:r>
              <a:rPr lang="en-US" altLang="zh-CN" sz="1800" dirty="0"/>
              <a:t>[-2, 2]</a:t>
            </a:r>
            <a:r>
              <a:rPr lang="zh-CN" altLang="en-US" sz="1800" dirty="0"/>
              <a:t>。</a:t>
            </a:r>
          </a:p>
          <a:p>
            <a:pPr lvl="1">
              <a:lnSpc>
                <a:spcPct val="100000"/>
              </a:lnSpc>
            </a:pPr>
            <a:endParaRPr lang="en-US" altLang="zh-CN" sz="18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880596"/>
              </p:ext>
            </p:extLst>
          </p:nvPr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A63C4C7A-4B22-5903-01A6-437EFDDBD72A}"/>
              </a:ext>
            </a:extLst>
          </p:cNvPr>
          <p:cNvGrpSpPr/>
          <p:nvPr/>
        </p:nvGrpSpPr>
        <p:grpSpPr>
          <a:xfrm>
            <a:off x="5684571" y="2447290"/>
            <a:ext cx="3880253" cy="468173"/>
            <a:chOff x="5684571" y="2447290"/>
            <a:chExt cx="3880253" cy="46817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8C19E46-C5A5-0FE2-584E-7966C384D271}"/>
                </a:ext>
              </a:extLst>
            </p:cNvPr>
            <p:cNvSpPr/>
            <p:nvPr/>
          </p:nvSpPr>
          <p:spPr>
            <a:xfrm>
              <a:off x="568457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278D37-1484-7ED8-7A9B-22E98145EB9D}"/>
                </a:ext>
              </a:extLst>
            </p:cNvPr>
            <p:cNvSpPr/>
            <p:nvPr/>
          </p:nvSpPr>
          <p:spPr>
            <a:xfrm>
              <a:off x="6072276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704BEFA-42A9-B20D-7C2A-C6BA9774768A}"/>
                </a:ext>
              </a:extLst>
            </p:cNvPr>
            <p:cNvSpPr/>
            <p:nvPr/>
          </p:nvSpPr>
          <p:spPr>
            <a:xfrm>
              <a:off x="645998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77D2ACD-8288-5B8B-1A82-A7A2175BF05B}"/>
                </a:ext>
              </a:extLst>
            </p:cNvPr>
            <p:cNvSpPr/>
            <p:nvPr/>
          </p:nvSpPr>
          <p:spPr>
            <a:xfrm>
              <a:off x="685047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58F664C-4868-0040-F2F1-AFA524D62A37}"/>
                </a:ext>
              </a:extLst>
            </p:cNvPr>
            <p:cNvSpPr/>
            <p:nvPr/>
          </p:nvSpPr>
          <p:spPr>
            <a:xfrm>
              <a:off x="723818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06AD06-8B08-50F4-28A5-59ADD221AEDC}"/>
                </a:ext>
              </a:extLst>
            </p:cNvPr>
            <p:cNvSpPr/>
            <p:nvPr/>
          </p:nvSpPr>
          <p:spPr>
            <a:xfrm>
              <a:off x="762588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86790CF-5B5C-287F-E831-CB78628D0B2D}"/>
                </a:ext>
              </a:extLst>
            </p:cNvPr>
            <p:cNvSpPr/>
            <p:nvPr/>
          </p:nvSpPr>
          <p:spPr>
            <a:xfrm>
              <a:off x="801359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493DF47-94D2-4EB6-B7AA-37E03FFE3107}"/>
                </a:ext>
              </a:extLst>
            </p:cNvPr>
            <p:cNvSpPr/>
            <p:nvPr/>
          </p:nvSpPr>
          <p:spPr>
            <a:xfrm>
              <a:off x="840129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6C14B91-E08E-0015-DB35-B7034C04064D}"/>
                </a:ext>
              </a:extLst>
            </p:cNvPr>
            <p:cNvSpPr/>
            <p:nvPr/>
          </p:nvSpPr>
          <p:spPr>
            <a:xfrm>
              <a:off x="878900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75144A1-B891-44D8-4FEC-590DCD5BA601}"/>
                </a:ext>
              </a:extLst>
            </p:cNvPr>
            <p:cNvSpPr/>
            <p:nvPr/>
          </p:nvSpPr>
          <p:spPr>
            <a:xfrm>
              <a:off x="917711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C0D326B1-2082-A4A0-4BBA-462C46DEBEE3}"/>
              </a:ext>
            </a:extLst>
          </p:cNvPr>
          <p:cNvGrpSpPr/>
          <p:nvPr/>
        </p:nvGrpSpPr>
        <p:grpSpPr>
          <a:xfrm>
            <a:off x="3938296" y="4113937"/>
            <a:ext cx="3880253" cy="468173"/>
            <a:chOff x="3938296" y="4113937"/>
            <a:chExt cx="3880253" cy="46817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6C051FB-4932-1B70-B32C-9CCAD200EFC1}"/>
                </a:ext>
              </a:extLst>
            </p:cNvPr>
            <p:cNvSpPr/>
            <p:nvPr/>
          </p:nvSpPr>
          <p:spPr>
            <a:xfrm>
              <a:off x="3938296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3854B7F-FE00-EEAB-D6D4-4113D8A0CC31}"/>
                </a:ext>
              </a:extLst>
            </p:cNvPr>
            <p:cNvSpPr/>
            <p:nvPr/>
          </p:nvSpPr>
          <p:spPr>
            <a:xfrm>
              <a:off x="4326001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B98763-0019-7427-115C-28DF01ED1CC2}"/>
                </a:ext>
              </a:extLst>
            </p:cNvPr>
            <p:cNvSpPr/>
            <p:nvPr/>
          </p:nvSpPr>
          <p:spPr>
            <a:xfrm>
              <a:off x="4713706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691567E-C194-9B65-9C70-1FFCAE1F4F25}"/>
                </a:ext>
              </a:extLst>
            </p:cNvPr>
            <p:cNvSpPr/>
            <p:nvPr/>
          </p:nvSpPr>
          <p:spPr>
            <a:xfrm>
              <a:off x="5104204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9F0D7D1-4168-D247-5E60-38A679BF122D}"/>
                </a:ext>
              </a:extLst>
            </p:cNvPr>
            <p:cNvSpPr/>
            <p:nvPr/>
          </p:nvSpPr>
          <p:spPr>
            <a:xfrm>
              <a:off x="5491909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242BF1D-8A90-3039-683E-5C78C102449B}"/>
                </a:ext>
              </a:extLst>
            </p:cNvPr>
            <p:cNvSpPr/>
            <p:nvPr/>
          </p:nvSpPr>
          <p:spPr>
            <a:xfrm>
              <a:off x="5879614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0C79648-9AEA-A12B-0429-81DCD6F4DC06}"/>
                </a:ext>
              </a:extLst>
            </p:cNvPr>
            <p:cNvSpPr/>
            <p:nvPr/>
          </p:nvSpPr>
          <p:spPr>
            <a:xfrm>
              <a:off x="6267319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99EADE0-A690-0631-A8FD-30C35DD1D819}"/>
                </a:ext>
              </a:extLst>
            </p:cNvPr>
            <p:cNvSpPr/>
            <p:nvPr/>
          </p:nvSpPr>
          <p:spPr>
            <a:xfrm>
              <a:off x="6655024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39A870B-FD8A-60BA-0582-6B520CFF5507}"/>
                </a:ext>
              </a:extLst>
            </p:cNvPr>
            <p:cNvSpPr/>
            <p:nvPr/>
          </p:nvSpPr>
          <p:spPr>
            <a:xfrm>
              <a:off x="7042729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A7896B3-0FAF-3EBA-FB8C-3800F4EB3F96}"/>
                </a:ext>
              </a:extLst>
            </p:cNvPr>
            <p:cNvSpPr/>
            <p:nvPr/>
          </p:nvSpPr>
          <p:spPr>
            <a:xfrm>
              <a:off x="7430844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6200326-C1E7-70A2-1FAF-A5CA8BDA80CC}"/>
              </a:ext>
            </a:extLst>
          </p:cNvPr>
          <p:cNvGrpSpPr/>
          <p:nvPr/>
        </p:nvGrpSpPr>
        <p:grpSpPr>
          <a:xfrm>
            <a:off x="7818139" y="4113937"/>
            <a:ext cx="3880253" cy="468173"/>
            <a:chOff x="7818139" y="4113937"/>
            <a:chExt cx="3880253" cy="46817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BBBAB00-F523-87FD-510B-5BC0D0CA5FDC}"/>
                </a:ext>
              </a:extLst>
            </p:cNvPr>
            <p:cNvSpPr/>
            <p:nvPr/>
          </p:nvSpPr>
          <p:spPr>
            <a:xfrm>
              <a:off x="7818139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85DC2B0-504A-2FB5-E660-3B30B9951CB8}"/>
                </a:ext>
              </a:extLst>
            </p:cNvPr>
            <p:cNvSpPr/>
            <p:nvPr/>
          </p:nvSpPr>
          <p:spPr>
            <a:xfrm>
              <a:off x="8205844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C6C630E-42C5-C2C7-45EA-BD0C8FD00895}"/>
                </a:ext>
              </a:extLst>
            </p:cNvPr>
            <p:cNvSpPr/>
            <p:nvPr/>
          </p:nvSpPr>
          <p:spPr>
            <a:xfrm>
              <a:off x="8593549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B0EB467-B9D0-0B64-72F4-35D7BEB90FBA}"/>
                </a:ext>
              </a:extLst>
            </p:cNvPr>
            <p:cNvSpPr/>
            <p:nvPr/>
          </p:nvSpPr>
          <p:spPr>
            <a:xfrm>
              <a:off x="8984047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B83E039-93D1-B567-09D6-36143821E755}"/>
                </a:ext>
              </a:extLst>
            </p:cNvPr>
            <p:cNvSpPr/>
            <p:nvPr/>
          </p:nvSpPr>
          <p:spPr>
            <a:xfrm>
              <a:off x="9371752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E77D960-0BB4-90CC-8CBC-E5B50EC4416B}"/>
                </a:ext>
              </a:extLst>
            </p:cNvPr>
            <p:cNvSpPr/>
            <p:nvPr/>
          </p:nvSpPr>
          <p:spPr>
            <a:xfrm>
              <a:off x="9759457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6910EDB-B4DB-6489-A3D4-A1408767CC84}"/>
                </a:ext>
              </a:extLst>
            </p:cNvPr>
            <p:cNvSpPr/>
            <p:nvPr/>
          </p:nvSpPr>
          <p:spPr>
            <a:xfrm>
              <a:off x="10147162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011635C-2FB9-D4EB-9298-AF703ED08C86}"/>
                </a:ext>
              </a:extLst>
            </p:cNvPr>
            <p:cNvSpPr/>
            <p:nvPr/>
          </p:nvSpPr>
          <p:spPr>
            <a:xfrm>
              <a:off x="10534867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EB59402-6096-F8F2-2F50-24DF21479E47}"/>
                </a:ext>
              </a:extLst>
            </p:cNvPr>
            <p:cNvSpPr/>
            <p:nvPr/>
          </p:nvSpPr>
          <p:spPr>
            <a:xfrm>
              <a:off x="10922572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73410B-61E4-CEA7-2845-C9F6C4FCB2BD}"/>
                </a:ext>
              </a:extLst>
            </p:cNvPr>
            <p:cNvSpPr/>
            <p:nvPr/>
          </p:nvSpPr>
          <p:spPr>
            <a:xfrm>
              <a:off x="11310687" y="4113937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sp>
        <p:nvSpPr>
          <p:cNvPr id="44" name="箭头: 下 43">
            <a:extLst>
              <a:ext uri="{FF2B5EF4-FFF2-40B4-BE49-F238E27FC236}">
                <a16:creationId xmlns:a16="http://schemas.microsoft.com/office/drawing/2014/main" id="{67037D9A-B7C5-5556-8978-8FAF2316B686}"/>
              </a:ext>
            </a:extLst>
          </p:cNvPr>
          <p:cNvSpPr/>
          <p:nvPr/>
        </p:nvSpPr>
        <p:spPr>
          <a:xfrm>
            <a:off x="5678325" y="4758267"/>
            <a:ext cx="411429" cy="3386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845381D4-A39F-D137-1731-063D1B675290}"/>
              </a:ext>
            </a:extLst>
          </p:cNvPr>
          <p:cNvSpPr/>
          <p:nvPr/>
        </p:nvSpPr>
        <p:spPr>
          <a:xfrm>
            <a:off x="9582055" y="4758267"/>
            <a:ext cx="411429" cy="3386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3A80F33-5113-7D93-E51B-46E07AEA6D59}"/>
              </a:ext>
            </a:extLst>
          </p:cNvPr>
          <p:cNvSpPr txBox="1"/>
          <p:nvPr/>
        </p:nvSpPr>
        <p:spPr>
          <a:xfrm>
            <a:off x="4628269" y="5202601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297</a:t>
            </a:r>
          </a:p>
          <a:p>
            <a:pPr algn="ctr"/>
            <a:r>
              <a:rPr lang="en-US" altLang="zh-CN" dirty="0"/>
              <a:t>-0.8387096774193548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D6C3E83-6F95-EEB0-AB26-0520A8E5D3A0}"/>
              </a:ext>
            </a:extLst>
          </p:cNvPr>
          <p:cNvSpPr txBox="1"/>
          <p:nvPr/>
        </p:nvSpPr>
        <p:spPr>
          <a:xfrm>
            <a:off x="8637454" y="5200567"/>
            <a:ext cx="2300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593</a:t>
            </a:r>
          </a:p>
          <a:p>
            <a:pPr algn="ctr"/>
            <a:r>
              <a:rPr lang="en-US" altLang="zh-CN" dirty="0"/>
              <a:t>0.318670576735093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5E080AA-52E3-3A62-40FE-ECF02B302366}"/>
              </a:ext>
            </a:extLst>
          </p:cNvPr>
          <p:cNvSpPr txBox="1"/>
          <p:nvPr/>
        </p:nvSpPr>
        <p:spPr>
          <a:xfrm>
            <a:off x="6141020" y="4820471"/>
            <a:ext cx="33778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[0, 1023] </a:t>
            </a:r>
            <a:r>
              <a:rPr lang="zh-CN" altLang="en-US" dirty="0"/>
              <a:t>→</a:t>
            </a:r>
            <a:r>
              <a:rPr lang="en-US" altLang="zh-CN" dirty="0"/>
              <a:t> [-2, 2]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x/1023*4-2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2C17575-F9AD-3C61-6747-35E09C5FCD8F}"/>
              </a:ext>
            </a:extLst>
          </p:cNvPr>
          <p:cNvSpPr txBox="1"/>
          <p:nvPr/>
        </p:nvSpPr>
        <p:spPr>
          <a:xfrm>
            <a:off x="3259484" y="643744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建议用奇偶交叉编码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111A2155-4845-7D6C-4031-0F825844B631}"/>
              </a:ext>
            </a:extLst>
          </p:cNvPr>
          <p:cNvGrpSpPr/>
          <p:nvPr/>
        </p:nvGrpSpPr>
        <p:grpSpPr>
          <a:xfrm>
            <a:off x="4021038" y="5975853"/>
            <a:ext cx="7760096" cy="468173"/>
            <a:chOff x="3549400" y="6976696"/>
            <a:chExt cx="7760096" cy="46817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3758ABA-541D-3CD0-2332-22B2BA9723E7}"/>
                </a:ext>
              </a:extLst>
            </p:cNvPr>
            <p:cNvSpPr/>
            <p:nvPr/>
          </p:nvSpPr>
          <p:spPr>
            <a:xfrm>
              <a:off x="3549400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25AC568-06C8-4FCF-E356-0B0B97C6612D}"/>
                </a:ext>
              </a:extLst>
            </p:cNvPr>
            <p:cNvSpPr/>
            <p:nvPr/>
          </p:nvSpPr>
          <p:spPr>
            <a:xfrm>
              <a:off x="3937105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2F6AC48-BFD9-8A88-6121-4D188B1412EF}"/>
                </a:ext>
              </a:extLst>
            </p:cNvPr>
            <p:cNvSpPr/>
            <p:nvPr/>
          </p:nvSpPr>
          <p:spPr>
            <a:xfrm>
              <a:off x="4324810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072C1AD-0DB8-C3BA-2C16-CB2A41E7FD29}"/>
                </a:ext>
              </a:extLst>
            </p:cNvPr>
            <p:cNvSpPr/>
            <p:nvPr/>
          </p:nvSpPr>
          <p:spPr>
            <a:xfrm>
              <a:off x="4715308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2474672-A0D6-6A1E-C8D1-BF8F0D3D9021}"/>
                </a:ext>
              </a:extLst>
            </p:cNvPr>
            <p:cNvSpPr/>
            <p:nvPr/>
          </p:nvSpPr>
          <p:spPr>
            <a:xfrm>
              <a:off x="5103013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C4E2EFF-050B-FD95-486F-0AF6C71EACF1}"/>
                </a:ext>
              </a:extLst>
            </p:cNvPr>
            <p:cNvSpPr/>
            <p:nvPr/>
          </p:nvSpPr>
          <p:spPr>
            <a:xfrm>
              <a:off x="5490718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39CC65C9-81DD-671D-867E-77248F3731FE}"/>
                </a:ext>
              </a:extLst>
            </p:cNvPr>
            <p:cNvSpPr/>
            <p:nvPr/>
          </p:nvSpPr>
          <p:spPr>
            <a:xfrm>
              <a:off x="5878423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9A685E3-AD0C-22A7-7C3F-A2A22BD32592}"/>
                </a:ext>
              </a:extLst>
            </p:cNvPr>
            <p:cNvSpPr/>
            <p:nvPr/>
          </p:nvSpPr>
          <p:spPr>
            <a:xfrm>
              <a:off x="6266128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A9A7D46-8D90-D6F9-E5F2-140CD93074EF}"/>
                </a:ext>
              </a:extLst>
            </p:cNvPr>
            <p:cNvSpPr/>
            <p:nvPr/>
          </p:nvSpPr>
          <p:spPr>
            <a:xfrm>
              <a:off x="6653833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5032692-7A6A-CC3B-515D-E67CE0F8CB26}"/>
                </a:ext>
              </a:extLst>
            </p:cNvPr>
            <p:cNvSpPr/>
            <p:nvPr/>
          </p:nvSpPr>
          <p:spPr>
            <a:xfrm>
              <a:off x="7041948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838D0A4-10FA-20C5-5DD2-2424916A39ED}"/>
                </a:ext>
              </a:extLst>
            </p:cNvPr>
            <p:cNvSpPr/>
            <p:nvPr/>
          </p:nvSpPr>
          <p:spPr>
            <a:xfrm>
              <a:off x="7429243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0799748-552B-F7B4-9EFD-9E3EFB136936}"/>
                </a:ext>
              </a:extLst>
            </p:cNvPr>
            <p:cNvSpPr/>
            <p:nvPr/>
          </p:nvSpPr>
          <p:spPr>
            <a:xfrm>
              <a:off x="7816948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7033DECA-717C-E784-36A7-CFDBC85109FF}"/>
                </a:ext>
              </a:extLst>
            </p:cNvPr>
            <p:cNvSpPr/>
            <p:nvPr/>
          </p:nvSpPr>
          <p:spPr>
            <a:xfrm>
              <a:off x="8204653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A4A9384-7A0C-C99D-D22A-EA68244DDFCF}"/>
                </a:ext>
              </a:extLst>
            </p:cNvPr>
            <p:cNvSpPr/>
            <p:nvPr/>
          </p:nvSpPr>
          <p:spPr>
            <a:xfrm>
              <a:off x="8595151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CE031219-418B-7227-88FC-94B9ECB2A99F}"/>
                </a:ext>
              </a:extLst>
            </p:cNvPr>
            <p:cNvSpPr/>
            <p:nvPr/>
          </p:nvSpPr>
          <p:spPr>
            <a:xfrm>
              <a:off x="8982856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5DB2937-FEF7-ED83-E9C9-567E40C18DFD}"/>
                </a:ext>
              </a:extLst>
            </p:cNvPr>
            <p:cNvSpPr/>
            <p:nvPr/>
          </p:nvSpPr>
          <p:spPr>
            <a:xfrm>
              <a:off x="9370561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2CCC434-41DD-55D2-62D3-763FEDE0BFBB}"/>
                </a:ext>
              </a:extLst>
            </p:cNvPr>
            <p:cNvSpPr/>
            <p:nvPr/>
          </p:nvSpPr>
          <p:spPr>
            <a:xfrm>
              <a:off x="9758266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CFC1A62-9AFB-12A1-782B-18A6B975A3D7}"/>
                </a:ext>
              </a:extLst>
            </p:cNvPr>
            <p:cNvSpPr/>
            <p:nvPr/>
          </p:nvSpPr>
          <p:spPr>
            <a:xfrm>
              <a:off x="10145971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7154B40-492A-9A67-5E88-9ADDE57AC938}"/>
                </a:ext>
              </a:extLst>
            </p:cNvPr>
            <p:cNvSpPr/>
            <p:nvPr/>
          </p:nvSpPr>
          <p:spPr>
            <a:xfrm>
              <a:off x="10533676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EFE4738-B139-DA71-3CE7-70D28806111B}"/>
                </a:ext>
              </a:extLst>
            </p:cNvPr>
            <p:cNvSpPr/>
            <p:nvPr/>
          </p:nvSpPr>
          <p:spPr>
            <a:xfrm>
              <a:off x="10921791" y="6976696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1567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49" grpId="0" animBg="1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1909268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初始化种群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2306" y="1405858"/>
            <a:ext cx="7981493" cy="49863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初始化种群</a:t>
            </a:r>
            <a:r>
              <a:rPr lang="zh-CN" altLang="en-US" sz="2000" dirty="0"/>
              <a:t>。生成以上述编码的</a:t>
            </a:r>
            <a:r>
              <a:rPr lang="en-US" altLang="zh-CN" sz="2000" dirty="0"/>
              <a:t>N</a:t>
            </a:r>
            <a:r>
              <a:rPr lang="zh-CN" altLang="en-US" sz="2000" dirty="0"/>
              <a:t>（种群数量）个个体作为初始种群即可。</a:t>
            </a:r>
            <a:r>
              <a:rPr lang="zh-CN" altLang="en-US" sz="2000" b="1" dirty="0"/>
              <a:t>注意保证个体的多样性。</a:t>
            </a:r>
            <a:endParaRPr lang="en-US" altLang="zh-CN" sz="18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5451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2457908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计算种群适应度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264B4F16-D3FC-332B-D5E7-3B46FCFC3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2306" y="1405858"/>
                <a:ext cx="7981493" cy="4771105"/>
              </a:xfrm>
            </p:spPr>
            <p:txBody>
              <a:bodyPr/>
              <a:lstStyle/>
              <a:p>
                <a:r>
                  <a:rPr lang="zh-CN" altLang="en-US" dirty="0"/>
                  <a:t>这里指的是计算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种群中每个个体的适应度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以实验内容为例：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旅行商问题：距离越小，适应度越大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可以设计适应度函数为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=1000/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dis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极大值求解：函数值越大，适应度越大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可以设计适应度函数为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264B4F16-D3FC-332B-D5E7-3B46FCFC3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2306" y="1405858"/>
                <a:ext cx="7981493" cy="4771105"/>
              </a:xfrm>
              <a:blipFill>
                <a:blip r:embed="rId3"/>
                <a:stretch>
                  <a:fillRect l="-993" t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47872" imgH="3024027" progId="Visio.Drawing.15">
                  <p:embed/>
                </p:oleObj>
              </mc:Choice>
              <mc:Fallback>
                <p:oleObj name="Visio" r:id="rId4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8341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3025175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选择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2307" y="1405858"/>
            <a:ext cx="3657874" cy="4771105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轮盘赌算法</a:t>
            </a:r>
          </a:p>
          <a:p>
            <a:pPr lvl="1"/>
            <a:r>
              <a:rPr lang="zh-CN" altLang="en-US" dirty="0"/>
              <a:t>概率由适应度计算得到</a:t>
            </a:r>
            <a:endParaRPr lang="en-US" altLang="zh-CN" dirty="0"/>
          </a:p>
          <a:p>
            <a:r>
              <a:rPr lang="zh-CN" altLang="en-US" dirty="0"/>
              <a:t>根据概率随机选取</a:t>
            </a:r>
            <a:r>
              <a:rPr lang="en-US" altLang="zh-CN" dirty="0"/>
              <a:t>N</a:t>
            </a:r>
            <a:r>
              <a:rPr lang="zh-CN" altLang="en-US" dirty="0"/>
              <a:t>个个体作为下一代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饼形 5">
            <a:extLst>
              <a:ext uri="{FF2B5EF4-FFF2-40B4-BE49-F238E27FC236}">
                <a16:creationId xmlns:a16="http://schemas.microsoft.com/office/drawing/2014/main" id="{949B15FF-9D0B-222E-C87C-44EE9660827E}"/>
              </a:ext>
            </a:extLst>
          </p:cNvPr>
          <p:cNvSpPr/>
          <p:nvPr/>
        </p:nvSpPr>
        <p:spPr>
          <a:xfrm>
            <a:off x="7407324" y="1036632"/>
            <a:ext cx="4235120" cy="4043598"/>
          </a:xfrm>
          <a:prstGeom prst="pie">
            <a:avLst>
              <a:gd name="adj1" fmla="val 11090228"/>
              <a:gd name="adj2" fmla="val 19029854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饼形 7">
            <a:extLst>
              <a:ext uri="{FF2B5EF4-FFF2-40B4-BE49-F238E27FC236}">
                <a16:creationId xmlns:a16="http://schemas.microsoft.com/office/drawing/2014/main" id="{E8F8E328-63A2-9B15-6082-8371079BC4F0}"/>
              </a:ext>
            </a:extLst>
          </p:cNvPr>
          <p:cNvSpPr/>
          <p:nvPr/>
        </p:nvSpPr>
        <p:spPr>
          <a:xfrm>
            <a:off x="7411896" y="1036632"/>
            <a:ext cx="4235120" cy="4043598"/>
          </a:xfrm>
          <a:prstGeom prst="pie">
            <a:avLst>
              <a:gd name="adj1" fmla="val 2492158"/>
              <a:gd name="adj2" fmla="val 6105375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饼形 8">
            <a:extLst>
              <a:ext uri="{FF2B5EF4-FFF2-40B4-BE49-F238E27FC236}">
                <a16:creationId xmlns:a16="http://schemas.microsoft.com/office/drawing/2014/main" id="{6F79D519-61CB-879F-74B7-9236EC7B4F71}"/>
              </a:ext>
            </a:extLst>
          </p:cNvPr>
          <p:cNvSpPr/>
          <p:nvPr/>
        </p:nvSpPr>
        <p:spPr>
          <a:xfrm>
            <a:off x="7404276" y="1025773"/>
            <a:ext cx="4235120" cy="4043598"/>
          </a:xfrm>
          <a:prstGeom prst="pie">
            <a:avLst>
              <a:gd name="adj1" fmla="val 6077291"/>
              <a:gd name="adj2" fmla="val 1104083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饼形 9">
            <a:extLst>
              <a:ext uri="{FF2B5EF4-FFF2-40B4-BE49-F238E27FC236}">
                <a16:creationId xmlns:a16="http://schemas.microsoft.com/office/drawing/2014/main" id="{EC294D1B-1F10-6371-DABC-9589E42D6908}"/>
              </a:ext>
            </a:extLst>
          </p:cNvPr>
          <p:cNvSpPr/>
          <p:nvPr/>
        </p:nvSpPr>
        <p:spPr>
          <a:xfrm>
            <a:off x="7396656" y="1036632"/>
            <a:ext cx="4235120" cy="4043598"/>
          </a:xfrm>
          <a:prstGeom prst="pie">
            <a:avLst>
              <a:gd name="adj1" fmla="val 458480"/>
              <a:gd name="adj2" fmla="val 24561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饼形 10">
            <a:extLst>
              <a:ext uri="{FF2B5EF4-FFF2-40B4-BE49-F238E27FC236}">
                <a16:creationId xmlns:a16="http://schemas.microsoft.com/office/drawing/2014/main" id="{FF8CDC32-191C-EF69-8640-1DA4D8BDDA3F}"/>
              </a:ext>
            </a:extLst>
          </p:cNvPr>
          <p:cNvSpPr/>
          <p:nvPr/>
        </p:nvSpPr>
        <p:spPr>
          <a:xfrm>
            <a:off x="7401228" y="1014914"/>
            <a:ext cx="4235120" cy="4043598"/>
          </a:xfrm>
          <a:prstGeom prst="pie">
            <a:avLst>
              <a:gd name="adj1" fmla="val 20534557"/>
              <a:gd name="adj2" fmla="val 452116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饼形 11">
            <a:extLst>
              <a:ext uri="{FF2B5EF4-FFF2-40B4-BE49-F238E27FC236}">
                <a16:creationId xmlns:a16="http://schemas.microsoft.com/office/drawing/2014/main" id="{E6E313DC-F4A9-BC1D-4AA0-80920C8B2532}"/>
              </a:ext>
            </a:extLst>
          </p:cNvPr>
          <p:cNvSpPr/>
          <p:nvPr/>
        </p:nvSpPr>
        <p:spPr>
          <a:xfrm>
            <a:off x="7417138" y="1014914"/>
            <a:ext cx="4235120" cy="4043598"/>
          </a:xfrm>
          <a:prstGeom prst="pie">
            <a:avLst>
              <a:gd name="adj1" fmla="val 19049563"/>
              <a:gd name="adj2" fmla="val 20534783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右箭头 12">
            <a:extLst>
              <a:ext uri="{FF2B5EF4-FFF2-40B4-BE49-F238E27FC236}">
                <a16:creationId xmlns:a16="http://schemas.microsoft.com/office/drawing/2014/main" id="{20C4AD6F-497D-577B-FD6C-4D416A1D8BDF}"/>
              </a:ext>
            </a:extLst>
          </p:cNvPr>
          <p:cNvSpPr/>
          <p:nvPr/>
        </p:nvSpPr>
        <p:spPr>
          <a:xfrm>
            <a:off x="6666567" y="2841002"/>
            <a:ext cx="588337" cy="323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81FF76-0394-ED28-E49C-F0BE2DD4B1A1}"/>
              </a:ext>
            </a:extLst>
          </p:cNvPr>
          <p:cNvSpPr txBox="1"/>
          <p:nvPr/>
        </p:nvSpPr>
        <p:spPr>
          <a:xfrm>
            <a:off x="3928369" y="639207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58993E-839F-8609-C9D7-797B4832EAB2}"/>
              </a:ext>
            </a:extLst>
          </p:cNvPr>
          <p:cNvSpPr txBox="1"/>
          <p:nvPr/>
        </p:nvSpPr>
        <p:spPr>
          <a:xfrm>
            <a:off x="8166277" y="3701323"/>
            <a:ext cx="51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0.2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3AB7E3-C109-5829-430A-E932AD7FC444}"/>
              </a:ext>
            </a:extLst>
          </p:cNvPr>
          <p:cNvSpPr txBox="1"/>
          <p:nvPr/>
        </p:nvSpPr>
        <p:spPr>
          <a:xfrm>
            <a:off x="9391828" y="3802923"/>
            <a:ext cx="6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0.15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4D3C14-9EBB-8F6C-42BD-5B3E3B8BB048}"/>
              </a:ext>
            </a:extLst>
          </p:cNvPr>
          <p:cNvSpPr txBox="1"/>
          <p:nvPr/>
        </p:nvSpPr>
        <p:spPr>
          <a:xfrm>
            <a:off x="10320663" y="3438342"/>
            <a:ext cx="6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0.12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38A394-4F69-5D73-2253-569312713AAE}"/>
              </a:ext>
            </a:extLst>
          </p:cNvPr>
          <p:cNvSpPr txBox="1"/>
          <p:nvPr/>
        </p:nvSpPr>
        <p:spPr>
          <a:xfrm>
            <a:off x="10457721" y="2785373"/>
            <a:ext cx="6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0.08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38F8DA-8996-C0DB-D16E-00C81E5DC8D9}"/>
              </a:ext>
            </a:extLst>
          </p:cNvPr>
          <p:cNvSpPr txBox="1"/>
          <p:nvPr/>
        </p:nvSpPr>
        <p:spPr>
          <a:xfrm>
            <a:off x="10430808" y="2089557"/>
            <a:ext cx="6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0.05</a:t>
            </a:r>
            <a:endParaRPr lang="zh-CN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FDB2F81-3390-7EED-2C01-63216E498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97282"/>
              </p:ext>
            </p:extLst>
          </p:nvPr>
        </p:nvGraphicFramePr>
        <p:xfrm>
          <a:off x="3503774" y="6021369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FE3B1527-2E71-0B0C-47CA-05AFB0C7020C}"/>
              </a:ext>
            </a:extLst>
          </p:cNvPr>
          <p:cNvSpPr txBox="1"/>
          <p:nvPr/>
        </p:nvSpPr>
        <p:spPr>
          <a:xfrm>
            <a:off x="6597524" y="639207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CFE487-8DC1-F704-F907-BE1F75439DC0}"/>
              </a:ext>
            </a:extLst>
          </p:cNvPr>
          <p:cNvSpPr txBox="1"/>
          <p:nvPr/>
        </p:nvSpPr>
        <p:spPr>
          <a:xfrm>
            <a:off x="8386050" y="641834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A4AD23-E90B-A345-6592-09DA9354C606}"/>
              </a:ext>
            </a:extLst>
          </p:cNvPr>
          <p:cNvSpPr txBox="1"/>
          <p:nvPr/>
        </p:nvSpPr>
        <p:spPr>
          <a:xfrm>
            <a:off x="9368262" y="640693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87BDEF-2575-A8DC-281B-19561F8373F4}"/>
              </a:ext>
            </a:extLst>
          </p:cNvPr>
          <p:cNvSpPr txBox="1"/>
          <p:nvPr/>
        </p:nvSpPr>
        <p:spPr>
          <a:xfrm>
            <a:off x="10134477" y="641792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76646F-07C0-FF55-9577-DF86AA040663}"/>
              </a:ext>
            </a:extLst>
          </p:cNvPr>
          <p:cNvSpPr txBox="1"/>
          <p:nvPr/>
        </p:nvSpPr>
        <p:spPr>
          <a:xfrm>
            <a:off x="10827002" y="640813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个体</a:t>
            </a:r>
            <a:r>
              <a:rPr lang="en-US" altLang="zh-CN" dirty="0"/>
              <a:t>6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6B891F3-20AB-5F80-E8F0-6797C1949E63}"/>
              </a:ext>
            </a:extLst>
          </p:cNvPr>
          <p:cNvGrpSpPr/>
          <p:nvPr/>
        </p:nvGrpSpPr>
        <p:grpSpPr>
          <a:xfrm>
            <a:off x="8942231" y="5284365"/>
            <a:ext cx="476412" cy="671621"/>
            <a:chOff x="9859448" y="3476381"/>
            <a:chExt cx="476412" cy="671621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C7B0E3A-1DA9-599E-EFA1-E3C3FB4E6860}"/>
                </a:ext>
              </a:extLst>
            </p:cNvPr>
            <p:cNvSpPr txBox="1"/>
            <p:nvPr/>
          </p:nvSpPr>
          <p:spPr>
            <a:xfrm>
              <a:off x="9859448" y="3476381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0.7</a:t>
              </a:r>
              <a:endParaRPr lang="zh-CN" altLang="en-US" dirty="0"/>
            </a:p>
          </p:txBody>
        </p:sp>
        <p:sp>
          <p:nvSpPr>
            <p:cNvPr id="27" name="下箭头 26">
              <a:extLst>
                <a:ext uri="{FF2B5EF4-FFF2-40B4-BE49-F238E27FC236}">
                  <a16:creationId xmlns:a16="http://schemas.microsoft.com/office/drawing/2014/main" id="{EC511FB5-2604-F802-48EF-151CB850BAE7}"/>
                </a:ext>
              </a:extLst>
            </p:cNvPr>
            <p:cNvSpPr/>
            <p:nvPr/>
          </p:nvSpPr>
          <p:spPr>
            <a:xfrm>
              <a:off x="10036694" y="3856572"/>
              <a:ext cx="134851" cy="29143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2717C6A-E62B-0D4E-07F5-055AD0FAA9E1}"/>
              </a:ext>
            </a:extLst>
          </p:cNvPr>
          <p:cNvGrpSpPr/>
          <p:nvPr/>
        </p:nvGrpSpPr>
        <p:grpSpPr>
          <a:xfrm>
            <a:off x="5020915" y="5312618"/>
            <a:ext cx="476412" cy="671621"/>
            <a:chOff x="9859448" y="3476381"/>
            <a:chExt cx="476412" cy="671621"/>
          </a:xfrm>
          <a:solidFill>
            <a:schemeClr val="bg1"/>
          </a:solidFill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B5005A-0BD6-225C-D09B-521DDA77980F}"/>
                </a:ext>
              </a:extLst>
            </p:cNvPr>
            <p:cNvSpPr txBox="1"/>
            <p:nvPr/>
          </p:nvSpPr>
          <p:spPr>
            <a:xfrm>
              <a:off x="9859448" y="3476381"/>
              <a:ext cx="4764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0.3</a:t>
              </a:r>
              <a:endParaRPr lang="zh-CN" altLang="en-US" dirty="0"/>
            </a:p>
          </p:txBody>
        </p:sp>
        <p:sp>
          <p:nvSpPr>
            <p:cNvPr id="30" name="下箭头 30">
              <a:extLst>
                <a:ext uri="{FF2B5EF4-FFF2-40B4-BE49-F238E27FC236}">
                  <a16:creationId xmlns:a16="http://schemas.microsoft.com/office/drawing/2014/main" id="{59D54D2E-1783-9945-A740-A057F98FBAA0}"/>
                </a:ext>
              </a:extLst>
            </p:cNvPr>
            <p:cNvSpPr/>
            <p:nvPr/>
          </p:nvSpPr>
          <p:spPr>
            <a:xfrm>
              <a:off x="10036694" y="3856572"/>
              <a:ext cx="134851" cy="291430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B9099878-878F-A0BA-F6BF-AD4C50F95591}"/>
              </a:ext>
            </a:extLst>
          </p:cNvPr>
          <p:cNvSpPr txBox="1"/>
          <p:nvPr/>
        </p:nvSpPr>
        <p:spPr>
          <a:xfrm>
            <a:off x="8685767" y="1746757"/>
            <a:ext cx="51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1255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在这里插入图片描述">
            <a:extLst>
              <a:ext uri="{FF2B5EF4-FFF2-40B4-BE49-F238E27FC236}">
                <a16:creationId xmlns:a16="http://schemas.microsoft.com/office/drawing/2014/main" id="{81013A92-A664-FDF9-6B9B-4C43835F047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668" y="1929973"/>
            <a:ext cx="4806624" cy="270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356883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交叉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47872" imgH="3024027" progId="Visio.Drawing.15">
                  <p:embed/>
                </p:oleObj>
              </mc:Choice>
              <mc:Fallback>
                <p:oleObj name="Visio" r:id="rId4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8"/>
            <a:ext cx="7682563" cy="4771105"/>
          </a:xfrm>
        </p:spPr>
        <p:txBody>
          <a:bodyPr/>
          <a:lstStyle/>
          <a:p>
            <a:r>
              <a:rPr lang="zh-CN" altLang="en-US" dirty="0"/>
              <a:t>交叉方法（求极大值时可以使用）</a:t>
            </a:r>
            <a:endParaRPr lang="en-US" altLang="zh-CN" dirty="0"/>
          </a:p>
        </p:txBody>
      </p:sp>
      <p:pic>
        <p:nvPicPr>
          <p:cNvPr id="34" name="Picture 4" descr="在这里插入图片描述">
            <a:extLst>
              <a:ext uri="{FF2B5EF4-FFF2-40B4-BE49-F238E27FC236}">
                <a16:creationId xmlns:a16="http://schemas.microsoft.com/office/drawing/2014/main" id="{96269B95-A17D-2F6B-1077-F446A5F9F02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805" y="1929974"/>
            <a:ext cx="4669989" cy="262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在这里插入图片描述">
            <a:extLst>
              <a:ext uri="{FF2B5EF4-FFF2-40B4-BE49-F238E27FC236}">
                <a16:creationId xmlns:a16="http://schemas.microsoft.com/office/drawing/2014/main" id="{53A2F5B7-89B8-E068-5AEE-B243F30831C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289" y="4326043"/>
            <a:ext cx="4222284" cy="237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211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99FE5D7-6D65-7346-53F7-9582456B1A2E}"/>
              </a:ext>
            </a:extLst>
          </p:cNvPr>
          <p:cNvSpPr txBox="1"/>
          <p:nvPr/>
        </p:nvSpPr>
        <p:spPr>
          <a:xfrm>
            <a:off x="3759200" y="1892622"/>
            <a:ext cx="426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Step1</a:t>
            </a:r>
            <a:r>
              <a:rPr lang="zh-CN" altLang="en-US" dirty="0"/>
              <a:t>：随机选择一对染色体（父代）中几个基因的起止位置（两染色体被选位置相同）。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en-US" altLang="zh-CN" b="1" dirty="0"/>
              <a:t>Step2</a:t>
            </a:r>
            <a:r>
              <a:rPr lang="zh-CN" altLang="en-US" dirty="0"/>
              <a:t>：交换这两组基因的位置。</a:t>
            </a:r>
            <a:br>
              <a:rPr lang="zh-CN" altLang="en-US" dirty="0"/>
            </a:br>
            <a:r>
              <a:rPr lang="zh-CN" altLang="en-US" dirty="0"/>
              <a:t> 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356883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交叉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8"/>
            <a:ext cx="8063563" cy="456809"/>
          </a:xfrm>
        </p:spPr>
        <p:txBody>
          <a:bodyPr>
            <a:normAutofit/>
          </a:bodyPr>
          <a:lstStyle/>
          <a:p>
            <a:r>
              <a:rPr lang="zh-CN" altLang="en-US" dirty="0"/>
              <a:t>交叉方法（</a:t>
            </a:r>
            <a:r>
              <a:rPr lang="en-US" altLang="zh-CN" dirty="0"/>
              <a:t>TSP</a:t>
            </a:r>
            <a:r>
              <a:rPr lang="zh-CN" altLang="en-US" dirty="0"/>
              <a:t>可用）：以</a:t>
            </a:r>
            <a:r>
              <a:rPr lang="zh-CN" altLang="en-US" b="1" dirty="0">
                <a:solidFill>
                  <a:srgbClr val="FF0000"/>
                </a:solidFill>
              </a:rPr>
              <a:t>部分匹配交叉</a:t>
            </a:r>
            <a:r>
              <a:rPr lang="en-US" altLang="zh-CN" b="1" dirty="0">
                <a:solidFill>
                  <a:srgbClr val="FF0000"/>
                </a:solidFill>
              </a:rPr>
              <a:t>(PMX)</a:t>
            </a:r>
            <a:r>
              <a:rPr lang="zh-CN" altLang="en-US" dirty="0"/>
              <a:t>为例</a:t>
            </a:r>
            <a:endParaRPr lang="en-US" altLang="zh-CN" dirty="0"/>
          </a:p>
        </p:txBody>
      </p:sp>
      <p:pic>
        <p:nvPicPr>
          <p:cNvPr id="5" name="Picture 2" descr="在这里插入图片描述">
            <a:extLst>
              <a:ext uri="{FF2B5EF4-FFF2-40B4-BE49-F238E27FC236}">
                <a16:creationId xmlns:a16="http://schemas.microsoft.com/office/drawing/2014/main" id="{188AF131-72E5-D512-2869-7E422167D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894" y="2878943"/>
            <a:ext cx="3065588" cy="144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在这里插入图片描述">
            <a:extLst>
              <a:ext uri="{FF2B5EF4-FFF2-40B4-BE49-F238E27FC236}">
                <a16:creationId xmlns:a16="http://schemas.microsoft.com/office/drawing/2014/main" id="{E3E4A6F6-0118-A4F5-6744-BCD2206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682" y="5009597"/>
            <a:ext cx="2971800" cy="88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D30FAF2-3A6C-EA32-9FF6-C562F825F648}"/>
              </a:ext>
            </a:extLst>
          </p:cNvPr>
          <p:cNvSpPr txBox="1"/>
          <p:nvPr/>
        </p:nvSpPr>
        <p:spPr>
          <a:xfrm>
            <a:off x="8144934" y="1892622"/>
            <a:ext cx="3589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Step3</a:t>
            </a:r>
            <a:r>
              <a:rPr lang="zh-CN" altLang="en-US" b="1" dirty="0">
                <a:solidFill>
                  <a:srgbClr val="FF0000"/>
                </a:solidFill>
              </a:rPr>
              <a:t>修订</a:t>
            </a:r>
            <a:r>
              <a:rPr lang="zh-CN" altLang="en-US" dirty="0"/>
              <a:t>：做冲突检测，根据交换的两组基因建立一个映射关系。所有冲突的基因都会经过映射，保证形成的新一对子代基因无冲突</a:t>
            </a:r>
          </a:p>
        </p:txBody>
      </p:sp>
      <p:pic>
        <p:nvPicPr>
          <p:cNvPr id="15" name="Picture 2" descr="在这里插入图片描述">
            <a:extLst>
              <a:ext uri="{FF2B5EF4-FFF2-40B4-BE49-F238E27FC236}">
                <a16:creationId xmlns:a16="http://schemas.microsoft.com/office/drawing/2014/main" id="{6CDDA8C2-4A3D-FBB8-2472-20BC12C0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933" y="3600782"/>
            <a:ext cx="3589866" cy="113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在这里插入图片描述">
            <a:extLst>
              <a:ext uri="{FF2B5EF4-FFF2-40B4-BE49-F238E27FC236}">
                <a16:creationId xmlns:a16="http://schemas.microsoft.com/office/drawing/2014/main" id="{32D07E82-7DFB-AAA2-FCBE-7FC7B2494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933" y="4955888"/>
            <a:ext cx="3134377" cy="93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643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356883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交叉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8"/>
            <a:ext cx="7682563" cy="4771105"/>
          </a:xfrm>
        </p:spPr>
        <p:txBody>
          <a:bodyPr/>
          <a:lstStyle/>
          <a:p>
            <a:r>
              <a:rPr lang="zh-CN" altLang="en-US" dirty="0"/>
              <a:t>交叉方法（</a:t>
            </a:r>
            <a:r>
              <a:rPr lang="en-US" altLang="zh-CN" dirty="0"/>
              <a:t>TSP</a:t>
            </a:r>
            <a:r>
              <a:rPr lang="zh-CN" altLang="en-US" dirty="0"/>
              <a:t>可用）</a:t>
            </a:r>
            <a:endParaRPr lang="en-US" altLang="zh-CN" dirty="0"/>
          </a:p>
        </p:txBody>
      </p:sp>
      <p:pic>
        <p:nvPicPr>
          <p:cNvPr id="6" name="Picture 2" descr="在这里插入图片描述">
            <a:extLst>
              <a:ext uri="{FF2B5EF4-FFF2-40B4-BE49-F238E27FC236}">
                <a16:creationId xmlns:a16="http://schemas.microsoft.com/office/drawing/2014/main" id="{CAF98013-BA18-2374-A12F-D26A2C3350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345" y="2583560"/>
            <a:ext cx="4934823" cy="277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在这里插入图片描述">
            <a:extLst>
              <a:ext uri="{FF2B5EF4-FFF2-40B4-BE49-F238E27FC236}">
                <a16:creationId xmlns:a16="http://schemas.microsoft.com/office/drawing/2014/main" id="{783B2535-8869-CD3C-AD9C-E5DE2A58379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140" y="2567683"/>
            <a:ext cx="4677232" cy="263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58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356883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交叉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172961"/>
            <a:ext cx="8270151" cy="545214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交叉率的确定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300" dirty="0"/>
              <a:t>TSP</a:t>
            </a:r>
            <a:r>
              <a:rPr lang="zh-CN" altLang="en-US" sz="2300" dirty="0"/>
              <a:t>请测试确定</a:t>
            </a:r>
            <a:endParaRPr lang="en-US" altLang="zh-CN" sz="2300" dirty="0"/>
          </a:p>
          <a:p>
            <a:pPr lvl="1">
              <a:lnSpc>
                <a:spcPct val="120000"/>
              </a:lnSpc>
            </a:pPr>
            <a:r>
              <a:rPr lang="zh-CN" altLang="en-US" sz="2300" dirty="0"/>
              <a:t>求极大值题目规定</a:t>
            </a:r>
            <a:r>
              <a:rPr lang="en-US" altLang="zh-CN" sz="2300" dirty="0"/>
              <a:t>0.7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交叉率对遗传算法的影响：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搜索范围</a:t>
            </a:r>
            <a:r>
              <a:rPr lang="zh-CN" altLang="en-US" sz="2300" dirty="0"/>
              <a:t>：较高的交叉率可以增加种群的多样性，有助于算法在解空间中进行广泛搜索。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早熟收敛</a:t>
            </a:r>
            <a:r>
              <a:rPr lang="zh-CN" altLang="en-US" sz="2300" dirty="0"/>
              <a:t>：如果交叉率过高，可能导致算法过早收敛，从而错过全局最优解，陷入局部最优解。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解的质量</a:t>
            </a:r>
            <a:r>
              <a:rPr lang="zh-CN" altLang="en-US" sz="2300" dirty="0"/>
              <a:t>：适中的交叉率有助于保持种群中个体的多样性，同时促进优良基因的传播，从而提高解的质量。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计算成本</a:t>
            </a:r>
            <a:r>
              <a:rPr lang="zh-CN" altLang="en-US" sz="2300" dirty="0"/>
              <a:t>：交叉率的提高意味着更多的个体将通过交叉产生，这可能会增加计算成本。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适应度分布</a:t>
            </a:r>
            <a:r>
              <a:rPr lang="zh-CN" altLang="en-US" sz="2300" dirty="0"/>
              <a:t>：交叉率会影响种群中个体适应度的分布，适当的交叉率有助于维持种群中个体适应度的多样性。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算法稳定性</a:t>
            </a:r>
            <a:r>
              <a:rPr lang="zh-CN" altLang="en-US" sz="2300" dirty="0"/>
              <a:t>：较低的交叉率可能导致算法结果的稳定性较差，因为种群中个体的遗传变异较少。</a:t>
            </a:r>
          </a:p>
          <a:p>
            <a:pPr lvl="1">
              <a:lnSpc>
                <a:spcPct val="120000"/>
              </a:lnSpc>
            </a:pPr>
            <a:r>
              <a:rPr lang="zh-CN" altLang="en-US" sz="2300" dirty="0">
                <a:solidFill>
                  <a:srgbClr val="00B0F0"/>
                </a:solidFill>
              </a:rPr>
              <a:t>问题特性依赖</a:t>
            </a:r>
            <a:r>
              <a:rPr lang="zh-CN" altLang="en-US" sz="2300" dirty="0"/>
              <a:t>：不同的问题可能对交叉率的敏感度不同，一些问题可能需要较高的交叉率来探索解空间，而其他问题则可能需要较低的交叉率来维持解的稳定性。</a:t>
            </a:r>
            <a:endParaRPr lang="en-US" altLang="zh-CN" sz="2300" dirty="0"/>
          </a:p>
        </p:txBody>
      </p:sp>
    </p:spTree>
    <p:extLst>
      <p:ext uri="{BB962C8B-B14F-4D97-AF65-F5344CB8AC3E}">
        <p14:creationId xmlns:p14="http://schemas.microsoft.com/office/powerpoint/2010/main" val="3525263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411747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变异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8"/>
            <a:ext cx="7682563" cy="4771105"/>
          </a:xfrm>
        </p:spPr>
        <p:txBody>
          <a:bodyPr/>
          <a:lstStyle/>
          <a:p>
            <a:r>
              <a:rPr lang="zh-CN" altLang="en-US" dirty="0"/>
              <a:t>变异方法（求极值可用）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变异方法（</a:t>
            </a:r>
            <a:r>
              <a:rPr lang="en-US" altLang="zh-CN" dirty="0"/>
              <a:t>TSP</a:t>
            </a:r>
            <a:r>
              <a:rPr lang="zh-CN" altLang="en-US" dirty="0"/>
              <a:t>可用）</a:t>
            </a:r>
            <a:endParaRPr lang="en-US" altLang="zh-CN" dirty="0"/>
          </a:p>
          <a:p>
            <a:pPr lvl="1"/>
            <a:r>
              <a:rPr lang="zh-CN" altLang="en-US" dirty="0"/>
              <a:t>随机选取两点，进行位置对换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 descr="https://pic3.zhimg.com/80/v2-5376634cfd8f124ed87e4e1e22524ea2_720w.jpg">
            <a:extLst>
              <a:ext uri="{FF2B5EF4-FFF2-40B4-BE49-F238E27FC236}">
                <a16:creationId xmlns:a16="http://schemas.microsoft.com/office/drawing/2014/main" id="{01D4F4CF-CDA7-0519-1CC0-A659BAEA8C46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31"/>
          <a:stretch/>
        </p:blipFill>
        <p:spPr bwMode="auto">
          <a:xfrm>
            <a:off x="4578247" y="1965986"/>
            <a:ext cx="5343525" cy="7109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A827C50-76AD-B350-25EE-0EBEE63B72E5}"/>
              </a:ext>
            </a:extLst>
          </p:cNvPr>
          <p:cNvGrpSpPr/>
          <p:nvPr/>
        </p:nvGrpSpPr>
        <p:grpSpPr>
          <a:xfrm>
            <a:off x="4119930" y="4585649"/>
            <a:ext cx="3661787" cy="468173"/>
            <a:chOff x="5684571" y="2447290"/>
            <a:chExt cx="3880253" cy="46817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3B7075-B8FA-83DC-236D-502DE4CED670}"/>
                </a:ext>
              </a:extLst>
            </p:cNvPr>
            <p:cNvSpPr/>
            <p:nvPr/>
          </p:nvSpPr>
          <p:spPr>
            <a:xfrm>
              <a:off x="568457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2BBEDBA-B24E-2863-3516-B1040481C816}"/>
                </a:ext>
              </a:extLst>
            </p:cNvPr>
            <p:cNvSpPr/>
            <p:nvPr/>
          </p:nvSpPr>
          <p:spPr>
            <a:xfrm>
              <a:off x="6072276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2343B6A-3D09-F5BD-AFBD-0A1BC1DA1D19}"/>
                </a:ext>
              </a:extLst>
            </p:cNvPr>
            <p:cNvSpPr/>
            <p:nvPr/>
          </p:nvSpPr>
          <p:spPr>
            <a:xfrm>
              <a:off x="645998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57813F3-2D00-DF7E-E25D-5497B056FD6D}"/>
                </a:ext>
              </a:extLst>
            </p:cNvPr>
            <p:cNvSpPr/>
            <p:nvPr/>
          </p:nvSpPr>
          <p:spPr>
            <a:xfrm>
              <a:off x="685047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7120427-E7A1-3C69-9137-27CC8D661AB7}"/>
                </a:ext>
              </a:extLst>
            </p:cNvPr>
            <p:cNvSpPr/>
            <p:nvPr/>
          </p:nvSpPr>
          <p:spPr>
            <a:xfrm>
              <a:off x="723818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4926-220A-E094-34A6-56ED134F6D64}"/>
                </a:ext>
              </a:extLst>
            </p:cNvPr>
            <p:cNvSpPr/>
            <p:nvPr/>
          </p:nvSpPr>
          <p:spPr>
            <a:xfrm>
              <a:off x="762588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86052B0-55C1-32DF-C41A-A891C68332DD}"/>
                </a:ext>
              </a:extLst>
            </p:cNvPr>
            <p:cNvSpPr/>
            <p:nvPr/>
          </p:nvSpPr>
          <p:spPr>
            <a:xfrm>
              <a:off x="801359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7CB015E-B9FD-A1DC-F177-630B528DBB09}"/>
                </a:ext>
              </a:extLst>
            </p:cNvPr>
            <p:cNvSpPr/>
            <p:nvPr/>
          </p:nvSpPr>
          <p:spPr>
            <a:xfrm>
              <a:off x="840129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D687CFF-8A00-0258-7EBD-9013F89B998E}"/>
                </a:ext>
              </a:extLst>
            </p:cNvPr>
            <p:cNvSpPr/>
            <p:nvPr/>
          </p:nvSpPr>
          <p:spPr>
            <a:xfrm>
              <a:off x="878900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1EFBC85-C489-626C-66AF-3AF392902F86}"/>
                </a:ext>
              </a:extLst>
            </p:cNvPr>
            <p:cNvSpPr/>
            <p:nvPr/>
          </p:nvSpPr>
          <p:spPr>
            <a:xfrm>
              <a:off x="917711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6E2EAEF-6F54-E7C3-631F-C21A4F93078F}"/>
              </a:ext>
            </a:extLst>
          </p:cNvPr>
          <p:cNvSpPr txBox="1"/>
          <p:nvPr/>
        </p:nvSpPr>
        <p:spPr>
          <a:xfrm>
            <a:off x="7619157" y="3591355"/>
            <a:ext cx="3945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随机选取两点，进行逆转</a:t>
            </a:r>
            <a:endParaRPr lang="en-US" altLang="zh-CN" sz="20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4A40EC9-BFAD-BE1C-F6EC-52EF895AD52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668744" y="4181072"/>
            <a:ext cx="0" cy="404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51FBB75-9A25-BECE-8FDE-FD4D9664E924}"/>
              </a:ext>
            </a:extLst>
          </p:cNvPr>
          <p:cNvCxnSpPr>
            <a:cxnSpLocks/>
          </p:cNvCxnSpPr>
          <p:nvPr/>
        </p:nvCxnSpPr>
        <p:spPr>
          <a:xfrm>
            <a:off x="5769009" y="4181071"/>
            <a:ext cx="0" cy="404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C304B64-E74C-1A18-00E3-27FF13809A68}"/>
              </a:ext>
            </a:extLst>
          </p:cNvPr>
          <p:cNvGrpSpPr/>
          <p:nvPr/>
        </p:nvGrpSpPr>
        <p:grpSpPr>
          <a:xfrm>
            <a:off x="4119930" y="5452142"/>
            <a:ext cx="3661787" cy="468173"/>
            <a:chOff x="5684571" y="2447290"/>
            <a:chExt cx="3880253" cy="468173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81BCE9E-AB2C-A3DD-2D92-F6C6E76CEA31}"/>
                </a:ext>
              </a:extLst>
            </p:cNvPr>
            <p:cNvSpPr/>
            <p:nvPr/>
          </p:nvSpPr>
          <p:spPr>
            <a:xfrm>
              <a:off x="568457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E90600A-2469-76F7-19DA-D930D0691E30}"/>
                </a:ext>
              </a:extLst>
            </p:cNvPr>
            <p:cNvSpPr/>
            <p:nvPr/>
          </p:nvSpPr>
          <p:spPr>
            <a:xfrm>
              <a:off x="6072276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51373A9-0205-DDAC-E617-72F78CA78E46}"/>
                </a:ext>
              </a:extLst>
            </p:cNvPr>
            <p:cNvSpPr/>
            <p:nvPr/>
          </p:nvSpPr>
          <p:spPr>
            <a:xfrm>
              <a:off x="645998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5EE469B-E3E8-0501-D17F-2C12A294C5B1}"/>
                </a:ext>
              </a:extLst>
            </p:cNvPr>
            <p:cNvSpPr/>
            <p:nvPr/>
          </p:nvSpPr>
          <p:spPr>
            <a:xfrm>
              <a:off x="685047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03842FF-99D9-3646-E5D7-9D2C168117E6}"/>
                </a:ext>
              </a:extLst>
            </p:cNvPr>
            <p:cNvSpPr/>
            <p:nvPr/>
          </p:nvSpPr>
          <p:spPr>
            <a:xfrm>
              <a:off x="723818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5834C8D-6CFE-F364-E28B-E8BCBE89FE5F}"/>
                </a:ext>
              </a:extLst>
            </p:cNvPr>
            <p:cNvSpPr/>
            <p:nvPr/>
          </p:nvSpPr>
          <p:spPr>
            <a:xfrm>
              <a:off x="762588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7B2EC4A-4ACF-0FFF-73A6-738BE1C9A719}"/>
                </a:ext>
              </a:extLst>
            </p:cNvPr>
            <p:cNvSpPr/>
            <p:nvPr/>
          </p:nvSpPr>
          <p:spPr>
            <a:xfrm>
              <a:off x="801359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B1F7AEC-E2AE-7BAB-E913-50AC666CDA00}"/>
                </a:ext>
              </a:extLst>
            </p:cNvPr>
            <p:cNvSpPr/>
            <p:nvPr/>
          </p:nvSpPr>
          <p:spPr>
            <a:xfrm>
              <a:off x="840129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14EF34D-E2B1-EEBA-C752-0139C0B675B0}"/>
                </a:ext>
              </a:extLst>
            </p:cNvPr>
            <p:cNvSpPr/>
            <p:nvPr/>
          </p:nvSpPr>
          <p:spPr>
            <a:xfrm>
              <a:off x="878900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65D174A-A9AB-6B6E-CF9A-5534191D40AC}"/>
                </a:ext>
              </a:extLst>
            </p:cNvPr>
            <p:cNvSpPr/>
            <p:nvPr/>
          </p:nvSpPr>
          <p:spPr>
            <a:xfrm>
              <a:off x="917711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6674D84-B4CA-8B12-0F67-1FD0658B4550}"/>
              </a:ext>
            </a:extLst>
          </p:cNvPr>
          <p:cNvGrpSpPr/>
          <p:nvPr/>
        </p:nvGrpSpPr>
        <p:grpSpPr>
          <a:xfrm>
            <a:off x="8240827" y="4585648"/>
            <a:ext cx="3661787" cy="468173"/>
            <a:chOff x="5684571" y="2447290"/>
            <a:chExt cx="3880253" cy="46817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01F7ACF-BD62-754D-37DA-37209D5D5A94}"/>
                </a:ext>
              </a:extLst>
            </p:cNvPr>
            <p:cNvSpPr/>
            <p:nvPr/>
          </p:nvSpPr>
          <p:spPr>
            <a:xfrm>
              <a:off x="568457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3DDC32B-5403-6DA9-B35E-1A4CA3CBDEAD}"/>
                </a:ext>
              </a:extLst>
            </p:cNvPr>
            <p:cNvSpPr/>
            <p:nvPr/>
          </p:nvSpPr>
          <p:spPr>
            <a:xfrm>
              <a:off x="6072276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EF66965-D2D6-1126-3FAB-E68B04F1209C}"/>
                </a:ext>
              </a:extLst>
            </p:cNvPr>
            <p:cNvSpPr/>
            <p:nvPr/>
          </p:nvSpPr>
          <p:spPr>
            <a:xfrm>
              <a:off x="645998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E3F1904-8AA2-0605-EFC8-277D07A9D6D8}"/>
                </a:ext>
              </a:extLst>
            </p:cNvPr>
            <p:cNvSpPr/>
            <p:nvPr/>
          </p:nvSpPr>
          <p:spPr>
            <a:xfrm>
              <a:off x="685047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6032353-22AF-34BE-7952-AD8B9DA9D685}"/>
                </a:ext>
              </a:extLst>
            </p:cNvPr>
            <p:cNvSpPr/>
            <p:nvPr/>
          </p:nvSpPr>
          <p:spPr>
            <a:xfrm>
              <a:off x="723818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42FCD9D-9974-5B40-E1EF-49AE7C96693B}"/>
                </a:ext>
              </a:extLst>
            </p:cNvPr>
            <p:cNvSpPr/>
            <p:nvPr/>
          </p:nvSpPr>
          <p:spPr>
            <a:xfrm>
              <a:off x="762588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7D382BB-10C0-54C4-1362-4709DB5C51F9}"/>
                </a:ext>
              </a:extLst>
            </p:cNvPr>
            <p:cNvSpPr/>
            <p:nvPr/>
          </p:nvSpPr>
          <p:spPr>
            <a:xfrm>
              <a:off x="801359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BDA96BF-250B-C9AA-5188-8482C1BCA320}"/>
                </a:ext>
              </a:extLst>
            </p:cNvPr>
            <p:cNvSpPr/>
            <p:nvPr/>
          </p:nvSpPr>
          <p:spPr>
            <a:xfrm>
              <a:off x="840129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A381BF2-3441-C906-B32D-F3D2DECE4C83}"/>
                </a:ext>
              </a:extLst>
            </p:cNvPr>
            <p:cNvSpPr/>
            <p:nvPr/>
          </p:nvSpPr>
          <p:spPr>
            <a:xfrm>
              <a:off x="878900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3FE7E59-77D0-7C10-5683-9B5F67BCA8BD}"/>
                </a:ext>
              </a:extLst>
            </p:cNvPr>
            <p:cNvSpPr/>
            <p:nvPr/>
          </p:nvSpPr>
          <p:spPr>
            <a:xfrm>
              <a:off x="917711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</p:grp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0BCB548-B1E2-AC9C-BEEE-C96BB8F17BC7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789641" y="4181071"/>
            <a:ext cx="0" cy="404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3C87B36-190E-2075-62CF-24C0CB26DA8D}"/>
              </a:ext>
            </a:extLst>
          </p:cNvPr>
          <p:cNvCxnSpPr>
            <a:cxnSpLocks/>
          </p:cNvCxnSpPr>
          <p:nvPr/>
        </p:nvCxnSpPr>
        <p:spPr>
          <a:xfrm>
            <a:off x="9889906" y="4181070"/>
            <a:ext cx="0" cy="404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DE4D76F-137E-3B2E-5FA9-F1D84A66E9BA}"/>
              </a:ext>
            </a:extLst>
          </p:cNvPr>
          <p:cNvGrpSpPr/>
          <p:nvPr/>
        </p:nvGrpSpPr>
        <p:grpSpPr>
          <a:xfrm>
            <a:off x="8240827" y="5452141"/>
            <a:ext cx="3661787" cy="468173"/>
            <a:chOff x="5684571" y="2447290"/>
            <a:chExt cx="3880253" cy="46817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419D7D1-C776-06DF-5B94-640CDD588F79}"/>
                </a:ext>
              </a:extLst>
            </p:cNvPr>
            <p:cNvSpPr/>
            <p:nvPr/>
          </p:nvSpPr>
          <p:spPr>
            <a:xfrm>
              <a:off x="568457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AD88D51-5B82-B57B-0168-16A13A5F4F01}"/>
                </a:ext>
              </a:extLst>
            </p:cNvPr>
            <p:cNvSpPr/>
            <p:nvPr/>
          </p:nvSpPr>
          <p:spPr>
            <a:xfrm>
              <a:off x="6072276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B1F4213-018A-0506-72E1-F67437F4647C}"/>
                </a:ext>
              </a:extLst>
            </p:cNvPr>
            <p:cNvSpPr/>
            <p:nvPr/>
          </p:nvSpPr>
          <p:spPr>
            <a:xfrm>
              <a:off x="6459981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09CD26A-98C9-D213-3D19-ABD18CBF45B0}"/>
                </a:ext>
              </a:extLst>
            </p:cNvPr>
            <p:cNvSpPr/>
            <p:nvPr/>
          </p:nvSpPr>
          <p:spPr>
            <a:xfrm>
              <a:off x="685047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798721EC-71CC-3781-80E2-6F252723D331}"/>
                </a:ext>
              </a:extLst>
            </p:cNvPr>
            <p:cNvSpPr/>
            <p:nvPr/>
          </p:nvSpPr>
          <p:spPr>
            <a:xfrm>
              <a:off x="723818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24DF512-521D-702F-2C04-76F351D0C861}"/>
                </a:ext>
              </a:extLst>
            </p:cNvPr>
            <p:cNvSpPr/>
            <p:nvPr/>
          </p:nvSpPr>
          <p:spPr>
            <a:xfrm>
              <a:off x="762588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5467BA6-1B28-0B6A-64D6-69E87C8BB144}"/>
                </a:ext>
              </a:extLst>
            </p:cNvPr>
            <p:cNvSpPr/>
            <p:nvPr/>
          </p:nvSpPr>
          <p:spPr>
            <a:xfrm>
              <a:off x="801359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60CDD27-F44F-914D-2946-B1DD807ADA20}"/>
                </a:ext>
              </a:extLst>
            </p:cNvPr>
            <p:cNvSpPr/>
            <p:nvPr/>
          </p:nvSpPr>
          <p:spPr>
            <a:xfrm>
              <a:off x="840129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E4EBBD1F-54B6-E21B-91EF-40CA2C4EDE90}"/>
                </a:ext>
              </a:extLst>
            </p:cNvPr>
            <p:cNvSpPr/>
            <p:nvPr/>
          </p:nvSpPr>
          <p:spPr>
            <a:xfrm>
              <a:off x="8789004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675C289-1442-1165-C6CF-9F6F963C3FC7}"/>
                </a:ext>
              </a:extLst>
            </p:cNvPr>
            <p:cNvSpPr/>
            <p:nvPr/>
          </p:nvSpPr>
          <p:spPr>
            <a:xfrm>
              <a:off x="9177119" y="2447290"/>
              <a:ext cx="387705" cy="4681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20885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4117477"/>
            <a:ext cx="2392071" cy="4681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生成下一代 </a:t>
            </a:r>
            <a:r>
              <a:rPr lang="en-US" altLang="zh-CN" dirty="0"/>
              <a:t>– </a:t>
            </a:r>
            <a:r>
              <a:rPr lang="zh-CN" altLang="en-US" dirty="0"/>
              <a:t>变异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8"/>
            <a:ext cx="8215964" cy="524047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FF0000"/>
                </a:solidFill>
              </a:rPr>
              <a:t>变异率的确定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TSP</a:t>
            </a:r>
            <a:r>
              <a:rPr lang="zh-CN" altLang="en-US" sz="1600" dirty="0"/>
              <a:t>请测试确定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求极大值题目规定</a:t>
            </a:r>
            <a:r>
              <a:rPr lang="en-US" altLang="zh-CN" sz="1600" dirty="0"/>
              <a:t>0.01</a:t>
            </a:r>
          </a:p>
          <a:p>
            <a:pPr>
              <a:lnSpc>
                <a:spcPct val="100000"/>
              </a:lnSpc>
            </a:pPr>
            <a:r>
              <a:rPr lang="zh-CN" altLang="en-US" sz="1800" dirty="0"/>
              <a:t>变异率对遗传算法的影响：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多样性维持</a:t>
            </a:r>
            <a:r>
              <a:rPr lang="zh-CN" altLang="en-US" sz="1600" dirty="0"/>
              <a:t>：适当的变异率可以增加种群的多样性，防止算法过早收敛到局部最优解。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全局搜索能力</a:t>
            </a:r>
            <a:r>
              <a:rPr lang="zh-CN" altLang="en-US" sz="1600" dirty="0"/>
              <a:t>：较高的变异率有助于算法跳出局部最优解，增强全局搜索能力。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早熟收敛风险</a:t>
            </a:r>
            <a:r>
              <a:rPr lang="zh-CN" altLang="en-US" sz="1600" dirty="0"/>
              <a:t>：如果变异率过高，可能导致种群中个体的适应度下降，增加早熟收敛的风险。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计算成本</a:t>
            </a:r>
            <a:r>
              <a:rPr lang="zh-CN" altLang="en-US" sz="1600" dirty="0"/>
              <a:t>：变异操作会增加计算成本，因为每个个体都需要被检查是否发生变异。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算法稳定性</a:t>
            </a:r>
            <a:r>
              <a:rPr lang="zh-CN" altLang="en-US" sz="1600" dirty="0"/>
              <a:t>：较低的变异率可能导致算法结果的稳定性较差，因为种群中个体的遗传变异较少。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解的精细调整</a:t>
            </a:r>
            <a:r>
              <a:rPr lang="zh-CN" altLang="en-US" sz="1600" dirty="0"/>
              <a:t>：在算法的后期，较低的变异率有助于对解进行精细调整，以接近全局最优解。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问题特性依赖</a:t>
            </a:r>
            <a:r>
              <a:rPr lang="zh-CN" altLang="en-US" sz="1600" dirty="0"/>
              <a:t>：不同的问题对变异率的敏感度不同，有些问题可能需要较高的变异率来探索解空间，而其他问题则可能需要较低的变异率来维持解的稳定性。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平衡探索与开发</a:t>
            </a:r>
            <a:r>
              <a:rPr lang="zh-CN" altLang="en-US" sz="1600" dirty="0"/>
              <a:t>：变异率需要与交叉率协同工作，以平衡种群的探索（</a:t>
            </a:r>
            <a:r>
              <a:rPr lang="en-US" altLang="zh-CN" sz="1600" dirty="0"/>
              <a:t>Exploration</a:t>
            </a:r>
            <a:r>
              <a:rPr lang="zh-CN" altLang="en-US" sz="1600" dirty="0"/>
              <a:t>）与开发（</a:t>
            </a:r>
            <a:r>
              <a:rPr lang="en-US" altLang="zh-CN" sz="1600" dirty="0"/>
              <a:t>Exploitation</a:t>
            </a:r>
            <a:r>
              <a:rPr lang="zh-CN" altLang="en-US" sz="16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01684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0125F-0E26-0DA1-7AF0-9B74FAA5D49A}"/>
              </a:ext>
            </a:extLst>
          </p:cNvPr>
          <p:cNvSpPr/>
          <p:nvPr/>
        </p:nvSpPr>
        <p:spPr>
          <a:xfrm>
            <a:off x="702258" y="4686437"/>
            <a:ext cx="2392071" cy="109121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</a:t>
            </a:r>
            <a:r>
              <a:rPr lang="en-US" altLang="zh-CN" dirty="0"/>
              <a:t> – </a:t>
            </a:r>
            <a:r>
              <a:rPr lang="zh-CN" altLang="en-US" dirty="0"/>
              <a:t>终止条件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89B6F5-045E-8ACA-F9A6-9D12F00B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690" y="1405857"/>
          <a:ext cx="2548115" cy="49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47872" imgH="3024027" progId="Visio.Drawing.15">
                  <p:embed/>
                </p:oleObj>
              </mc:Choice>
              <mc:Fallback>
                <p:oleObj name="Visio" r:id="rId3" imgW="1547872" imgH="3024027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89B6F5-045E-8ACA-F9A6-9D12F00B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90" y="1405857"/>
                        <a:ext cx="2548115" cy="4986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B0C9F621-3143-5E19-C39E-522A2CD2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236" y="1405859"/>
            <a:ext cx="7682563" cy="512194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终止条件（实验中设置一个即可）</a:t>
            </a:r>
            <a:endParaRPr lang="en-US" altLang="zh-CN" dirty="0"/>
          </a:p>
          <a:p>
            <a:pPr lvl="1"/>
            <a:r>
              <a:rPr lang="zh-CN" altLang="en-US" sz="1700" dirty="0">
                <a:solidFill>
                  <a:srgbClr val="FF0000"/>
                </a:solidFill>
              </a:rPr>
              <a:t>达到最大迭代次数</a:t>
            </a:r>
            <a:r>
              <a:rPr lang="zh-CN" altLang="en-US" sz="1700" dirty="0"/>
              <a:t>：这是最常用的终止条件，算法运行了预设的迭代次数后停止。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适应度达到阈值</a:t>
            </a:r>
            <a:r>
              <a:rPr lang="zh-CN" altLang="en-US" sz="1700" dirty="0"/>
              <a:t>：当种群中某个个体的适应度达到或超过一个预先设定的阈值时，算法终止。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适应度改进停滞</a:t>
            </a:r>
            <a:r>
              <a:rPr lang="zh-CN" altLang="en-US" sz="1700" dirty="0"/>
              <a:t>：如果在连续多个迭代中，种群中最佳个体的适应度没有显著提升，可以认为算法已经收敛，此时终止算法。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计算资源限制</a:t>
            </a:r>
            <a:r>
              <a:rPr lang="zh-CN" altLang="en-US" sz="1700" dirty="0"/>
              <a:t>：考虑到计算成本和时间，当算法运行达到一定的计算资源（如</a:t>
            </a:r>
            <a:r>
              <a:rPr lang="en-US" altLang="zh-CN" sz="1700" dirty="0"/>
              <a:t>CPU</a:t>
            </a:r>
            <a:r>
              <a:rPr lang="zh-CN" altLang="en-US" sz="1700" dirty="0"/>
              <a:t>时间或内存使用）限制时，终止算法。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解的质量满意</a:t>
            </a:r>
            <a:r>
              <a:rPr lang="zh-CN" altLang="en-US" sz="1700" dirty="0"/>
              <a:t>：在某些情况下，如果得到的解已经足够好，即使没有达到理论上的最优解，也可以提前终止算法。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种群多样性丧失</a:t>
            </a:r>
            <a:r>
              <a:rPr lang="zh-CN" altLang="en-US" sz="1700" dirty="0"/>
              <a:t>：如果种群中的个体差异变得很小，表明种群多样性丧失，这时可以考虑终止算法。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时间限制</a:t>
            </a:r>
            <a:r>
              <a:rPr lang="zh-CN" altLang="en-US" sz="1700" dirty="0"/>
              <a:t>：在实际应用中，可能会有一个严格的时间限制，算法必须在这个时间点之前终止。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用户干预</a:t>
            </a:r>
            <a:r>
              <a:rPr lang="zh-CN" altLang="en-US" sz="1700" dirty="0"/>
              <a:t>：在某些情况下，算法的运行可能会因为用户的需求或干预而提前终止。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稳定性条件</a:t>
            </a:r>
            <a:r>
              <a:rPr lang="zh-CN" altLang="en-US" sz="1700" dirty="0"/>
              <a:t>：如果种群中个体的适应度在连续几代中变化很小，表明算法已经达到一个稳定状态，可以考虑终止。</a:t>
            </a:r>
          </a:p>
          <a:p>
            <a:pPr lvl="1"/>
            <a:r>
              <a:rPr lang="zh-CN" altLang="en-US" sz="1700" dirty="0">
                <a:solidFill>
                  <a:srgbClr val="00B0F0"/>
                </a:solidFill>
              </a:rPr>
              <a:t>早期收敛检测</a:t>
            </a:r>
            <a:r>
              <a:rPr lang="zh-CN" altLang="en-US" sz="1700" dirty="0"/>
              <a:t>：通过一些统计测试来确定算法是否已经收敛到一个解，如果是，则可以提前终止。</a:t>
            </a:r>
            <a:endParaRPr lang="en-US" altLang="zh-CN" sz="1700" dirty="0"/>
          </a:p>
        </p:txBody>
      </p:sp>
    </p:spTree>
    <p:extLst>
      <p:ext uri="{BB962C8B-B14F-4D97-AF65-F5344CB8AC3E}">
        <p14:creationId xmlns:p14="http://schemas.microsoft.com/office/powerpoint/2010/main" val="2126318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 </a:t>
            </a:r>
            <a:r>
              <a:rPr lang="en-US" altLang="zh-CN" dirty="0"/>
              <a:t>– </a:t>
            </a:r>
            <a:r>
              <a:rPr lang="zh-CN" altLang="en-US" dirty="0"/>
              <a:t>遗传算法 </a:t>
            </a:r>
            <a:r>
              <a:rPr lang="en-US" altLang="zh-CN" dirty="0"/>
              <a:t>– </a:t>
            </a:r>
            <a:r>
              <a:rPr lang="zh-CN" altLang="en-US" dirty="0"/>
              <a:t>总结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B4F16-D3FC-332B-D5E7-3B46FCFC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超参数设置</a:t>
            </a:r>
            <a:endParaRPr lang="en-US" altLang="zh-CN" dirty="0"/>
          </a:p>
          <a:p>
            <a:pPr lvl="1"/>
            <a:r>
              <a:rPr lang="zh-CN" altLang="en-US" dirty="0"/>
              <a:t>种群数量</a:t>
            </a:r>
            <a:endParaRPr lang="en-US" altLang="zh-CN" dirty="0"/>
          </a:p>
          <a:p>
            <a:pPr lvl="1"/>
            <a:r>
              <a:rPr lang="zh-CN" altLang="en-US" dirty="0"/>
              <a:t>交叉率</a:t>
            </a:r>
            <a:endParaRPr lang="en-US" altLang="zh-CN" dirty="0"/>
          </a:p>
          <a:p>
            <a:pPr lvl="1"/>
            <a:r>
              <a:rPr lang="zh-CN" altLang="en-US" dirty="0"/>
              <a:t>变异率</a:t>
            </a:r>
            <a:endParaRPr lang="en-US" altLang="zh-CN" dirty="0"/>
          </a:p>
          <a:p>
            <a:r>
              <a:rPr lang="zh-CN" altLang="en-US" dirty="0"/>
              <a:t>编码方式</a:t>
            </a:r>
            <a:endParaRPr lang="en-US" altLang="zh-CN" dirty="0"/>
          </a:p>
          <a:p>
            <a:r>
              <a:rPr lang="zh-CN" altLang="en-US" dirty="0"/>
              <a:t>交叉方式</a:t>
            </a:r>
            <a:endParaRPr lang="en-US" altLang="zh-CN" dirty="0"/>
          </a:p>
          <a:p>
            <a:r>
              <a:rPr lang="zh-CN" altLang="en-US" dirty="0"/>
              <a:t>变异方式</a:t>
            </a:r>
            <a:endParaRPr lang="en-US" altLang="zh-CN" dirty="0"/>
          </a:p>
          <a:p>
            <a:r>
              <a:rPr lang="zh-CN" altLang="en-US" dirty="0"/>
              <a:t>迭代次数</a:t>
            </a:r>
          </a:p>
        </p:txBody>
      </p:sp>
    </p:spTree>
    <p:extLst>
      <p:ext uri="{BB962C8B-B14F-4D97-AF65-F5344CB8AC3E}">
        <p14:creationId xmlns:p14="http://schemas.microsoft.com/office/powerpoint/2010/main" val="21496868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Presentation" id="{0C765E85-DE93-4FB2-BD9B-BF4D3678169B}" vid="{DB726142-7519-4725-AA80-73A8FC2D2BA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</TotalTime>
  <Words>1993</Words>
  <Application>Microsoft Office PowerPoint</Application>
  <PresentationFormat>宽屏</PresentationFormat>
  <Paragraphs>260</Paragraphs>
  <Slides>19</Slides>
  <Notes>18</Notes>
  <HiddenSlides>0</HiddenSlides>
  <MMClips>1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Arial</vt:lpstr>
      <vt:lpstr>Arial Black</vt:lpstr>
      <vt:lpstr>Cambria Math</vt:lpstr>
      <vt:lpstr>Wingdings</vt:lpstr>
      <vt:lpstr>SimplePresentation</vt:lpstr>
      <vt:lpstr>Visio</vt:lpstr>
      <vt:lpstr>遗传算法及其应用</vt:lpstr>
      <vt:lpstr>实验目的</vt:lpstr>
      <vt:lpstr>实验要求</vt:lpstr>
      <vt:lpstr>实验内容 – 遗传算法求解旅行商问题</vt:lpstr>
      <vt:lpstr>实验内容 – 遗传算法求解函数极大值</vt:lpstr>
      <vt:lpstr>实验原理 – 遗传算法</vt:lpstr>
      <vt:lpstr>实验原理 – 遗传算法 – 初始化种群</vt:lpstr>
      <vt:lpstr>实验原理 – 遗传算法 – 初始化种群</vt:lpstr>
      <vt:lpstr>实验原理 – 遗传算法 – 初始化种群</vt:lpstr>
      <vt:lpstr>实验原理 – 遗传算法 – 计算种群适应度</vt:lpstr>
      <vt:lpstr>实验原理 – 遗传算法 – 生成下一代 – 选择</vt:lpstr>
      <vt:lpstr>实验原理 – 遗传算法 – 生成下一代 – 交叉</vt:lpstr>
      <vt:lpstr>实验原理 – 遗传算法 – 生成下一代 – 交叉</vt:lpstr>
      <vt:lpstr>实验原理 – 遗传算法 – 生成下一代 – 交叉</vt:lpstr>
      <vt:lpstr>实验原理 – 遗传算法 – 生成下一代 – 交叉</vt:lpstr>
      <vt:lpstr>实验原理 – 遗传算法 – 生成下一代 – 变异</vt:lpstr>
      <vt:lpstr>实验原理 – 遗传算法 – 生成下一代 – 变异</vt:lpstr>
      <vt:lpstr>实验原理 – 遗传算法 – 终止条件</vt:lpstr>
      <vt:lpstr>实验原理 – 遗传算法 – 总结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线性方程组和非线性方程的求解</dc:title>
  <dc:creator>Yipeng Liu</dc:creator>
  <cp:lastModifiedBy>Yipeng Liu</cp:lastModifiedBy>
  <cp:revision>368</cp:revision>
  <dcterms:created xsi:type="dcterms:W3CDTF">2024-03-27T13:31:01Z</dcterms:created>
  <dcterms:modified xsi:type="dcterms:W3CDTF">2024-05-11T06:19:05Z</dcterms:modified>
</cp:coreProperties>
</file>